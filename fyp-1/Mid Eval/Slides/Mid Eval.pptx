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Now Bold" charset="1" panose="00000800000000000000"/>
      <p:regular r:id="rId26"/>
    </p:embeddedFont>
    <p:embeddedFont>
      <p:font typeface="Canva Sans Bold" charset="1" panose="020B0803030501040103"/>
      <p:regular r:id="rId27"/>
    </p:embeddedFont>
    <p:embeddedFont>
      <p:font typeface="Canva Sans" charset="1" panose="020B05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kaggle.com/datasets/youssefkhalil/resumes-images-dataset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06958" y="312728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06958" y="2368073"/>
            <a:ext cx="1881042" cy="1881042"/>
          </a:xfrm>
          <a:custGeom>
            <a:avLst/>
            <a:gdLst/>
            <a:ahLst/>
            <a:cxnLst/>
            <a:rect r="r" b="b" t="t" l="l"/>
            <a:pathLst>
              <a:path h="1881042" w="1881042">
                <a:moveTo>
                  <a:pt x="0" y="0"/>
                </a:moveTo>
                <a:lnTo>
                  <a:pt x="1881042" y="0"/>
                </a:lnTo>
                <a:lnTo>
                  <a:pt x="1881042" y="1881042"/>
                </a:lnTo>
                <a:lnTo>
                  <a:pt x="0" y="18810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28700"/>
            <a:ext cx="14029209" cy="428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AI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-DRIVEN JOB </a:t>
            </a:r>
            <a:r>
              <a:rPr lang="en-US" sz="9395" b="true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INTERVIEW</a:t>
            </a:r>
            <a:r>
              <a:rPr lang="en-US" sz="9395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 ANALYZER</a:t>
            </a:r>
          </a:p>
          <a:p>
            <a:pPr algn="l">
              <a:lnSpc>
                <a:spcPts val="1127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00488"/>
            <a:ext cx="10896957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Short Title: Interview Den (S25-47-D)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877685"/>
            <a:ext cx="6761917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Team:       Hamza Saeed  21i-0671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Waleed Saeed  21i-1672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Asad Ullah Shah 21i-0545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27503" y="6877685"/>
            <a:ext cx="621065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Supervisor: Dr. Mehreen Alam</a:t>
            </a:r>
          </a:p>
          <a:p>
            <a:pPr algn="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215760"/>
            <a:ext cx="9139238" cy="16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Recap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884894" y="1219835"/>
            <a:ext cx="7374406" cy="7771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Focus</a:t>
            </a: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AI-Driven Job Interview Analyzer aims to automate and optimize the hiring process by leveraging AI. </a:t>
            </a:r>
          </a:p>
          <a:p>
            <a:pPr algn="ctr">
              <a:lnSpc>
                <a:spcPts val="5040"/>
              </a:lnSpc>
            </a:pP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Goal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based Scoring and Insights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39238" y="4819967"/>
            <a:ext cx="95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0" y="847725"/>
            <a:ext cx="9148762" cy="167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7"/>
              </a:lnSpc>
            </a:pPr>
            <a:r>
              <a:rPr lang="en-US" sz="984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Feedback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83472" y="3392361"/>
            <a:ext cx="7581818" cy="4015994"/>
          </a:xfrm>
          <a:custGeom>
            <a:avLst/>
            <a:gdLst/>
            <a:ahLst/>
            <a:cxnLst/>
            <a:rect r="r" b="b" t="t" l="l"/>
            <a:pathLst>
              <a:path h="4015994" w="7581818">
                <a:moveTo>
                  <a:pt x="0" y="0"/>
                </a:moveTo>
                <a:lnTo>
                  <a:pt x="7581818" y="0"/>
                </a:lnTo>
                <a:lnTo>
                  <a:pt x="7581818" y="4015994"/>
                </a:lnTo>
                <a:lnTo>
                  <a:pt x="0" y="40159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72155" y="2976563"/>
            <a:ext cx="7287145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Next Slide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Comparison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Next Slide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Scope of Interviews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Open and Closed  Ended Questions</a:t>
            </a:r>
          </a:p>
          <a:p>
            <a:pPr algn="just">
              <a:lnSpc>
                <a:spcPts val="4759"/>
              </a:lnSpc>
            </a:pP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Used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Grok LLM API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3925"/>
            <a:ext cx="3117973" cy="991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5"/>
              </a:lnSpc>
            </a:pPr>
            <a:r>
              <a:rPr lang="en-US" sz="582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Timeline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513021" y="4293733"/>
            <a:ext cx="15376564" cy="2088791"/>
            <a:chOff x="0" y="0"/>
            <a:chExt cx="20502086" cy="2785055"/>
          </a:xfrm>
        </p:grpSpPr>
        <p:sp>
          <p:nvSpPr>
            <p:cNvPr name="AutoShape 4" id="4"/>
            <p:cNvSpPr/>
            <p:nvPr/>
          </p:nvSpPr>
          <p:spPr>
            <a:xfrm>
              <a:off x="0" y="1392609"/>
              <a:ext cx="20502086" cy="0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2837289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7358006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11870250" y="1392446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 flipV="true">
              <a:off x="16382494" y="0"/>
              <a:ext cx="0" cy="1392609"/>
            </a:xfrm>
            <a:prstGeom prst="line">
              <a:avLst/>
            </a:prstGeom>
            <a:ln cap="flat" w="70549">
              <a:solidFill>
                <a:srgbClr val="FFFFFF"/>
              </a:solidFill>
              <a:prstDash val="sysDot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692344" y="6594590"/>
            <a:ext cx="5907762" cy="3512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1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JAN-MAR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Set up project infrastructure and basic architecture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basic login/signup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company and candidate portals (Figma)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core resume screening AI: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Resume parsing system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Basic job description matching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Initial CV analysis algorithms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Unit testing, Poster making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94448" y="588774"/>
            <a:ext cx="5761625" cy="368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2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APR-MAY</a:t>
            </a:r>
          </a:p>
          <a:p>
            <a:pPr algn="just">
              <a:lnSpc>
                <a:spcPts val="2554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company-side test creation portal: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Model Training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Multiple choice question system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Text-based question interface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Question bank management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 - Test difficulty settings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test scoring system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basic analytics dashboard for companies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8122" y="588774"/>
            <a:ext cx="6044160" cy="345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Iteration 4</a:t>
            </a:r>
          </a:p>
          <a:p>
            <a:pPr algn="ctr">
              <a:lnSpc>
                <a:spcPts val="3210"/>
              </a:lnSpc>
            </a:pPr>
            <a:r>
              <a:rPr lang="en-US" b="true" sz="2293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NOV - DEC</a:t>
            </a:r>
          </a:p>
          <a:p>
            <a:pPr algn="ctr">
              <a:lnSpc>
                <a:spcPts val="3210"/>
              </a:lnSpc>
            </a:pP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Integrate all components int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a seamless workflow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mplement detailed reporting system: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Candidate performance analytics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Interview insights</a:t>
            </a:r>
          </a:p>
          <a:p>
            <a:pPr algn="just">
              <a:lnSpc>
                <a:spcPts val="2554"/>
              </a:lnSpc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Skill assessment reports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Fin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 testing an</a:t>
            </a: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optimization</a:t>
            </a:r>
          </a:p>
          <a:p>
            <a:pPr algn="just" marL="393886" indent="-196943" lvl="1">
              <a:lnSpc>
                <a:spcPts val="2554"/>
              </a:lnSpc>
              <a:buFont typeface="Arial"/>
              <a:buChar char="•"/>
            </a:pPr>
            <a:r>
              <a:rPr lang="en-US" sz="18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Documentation and deployment preparation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96233" y="6880717"/>
            <a:ext cx="5947871" cy="322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Iteraton 3</a:t>
            </a:r>
          </a:p>
          <a:p>
            <a:pPr algn="ctr">
              <a:lnSpc>
                <a:spcPts val="3083"/>
              </a:lnSpc>
            </a:pPr>
            <a:r>
              <a:rPr lang="en-US" b="true" sz="2202" u="sng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SEP-OCT</a:t>
            </a:r>
          </a:p>
          <a:p>
            <a:pPr algn="just">
              <a:lnSpc>
                <a:spcPts val="2452"/>
              </a:lnSpc>
            </a:pP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Develop AI-powered interview system: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Voice-based question handling 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Natural language processing for responses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Te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chnical assessment modules</a:t>
            </a:r>
          </a:p>
          <a:p>
            <a:pPr algn="just">
              <a:lnSpc>
                <a:spcPts val="2452"/>
              </a:lnSpc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    - Communication skills </a:t>
            </a: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evaluation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Implement real-time interview feedback</a:t>
            </a:r>
          </a:p>
          <a:p>
            <a:pPr algn="just" marL="378220" indent="-189110" lvl="1">
              <a:lnSpc>
                <a:spcPts val="2452"/>
              </a:lnSpc>
              <a:buFont typeface="Arial"/>
              <a:buChar char="•"/>
            </a:pPr>
            <a:r>
              <a:rPr lang="en-US" sz="175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 comprehensive candidate evaluation system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6014" y="2064316"/>
            <a:ext cx="8397986" cy="6924245"/>
          </a:xfrm>
          <a:custGeom>
            <a:avLst/>
            <a:gdLst/>
            <a:ahLst/>
            <a:cxnLst/>
            <a:rect r="r" b="b" t="t" l="l"/>
            <a:pathLst>
              <a:path h="6924245" w="8397986">
                <a:moveTo>
                  <a:pt x="0" y="0"/>
                </a:moveTo>
                <a:lnTo>
                  <a:pt x="8397986" y="0"/>
                </a:lnTo>
                <a:lnTo>
                  <a:pt x="8397986" y="6924245"/>
                </a:lnTo>
                <a:lnTo>
                  <a:pt x="0" y="69242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064316"/>
            <a:ext cx="8686655" cy="6924245"/>
          </a:xfrm>
          <a:custGeom>
            <a:avLst/>
            <a:gdLst/>
            <a:ahLst/>
            <a:cxnLst/>
            <a:rect r="r" b="b" t="t" l="l"/>
            <a:pathLst>
              <a:path h="6924245" w="8686655">
                <a:moveTo>
                  <a:pt x="0" y="0"/>
                </a:moveTo>
                <a:lnTo>
                  <a:pt x="8686655" y="0"/>
                </a:lnTo>
                <a:lnTo>
                  <a:pt x="8686655" y="6924245"/>
                </a:lnTo>
                <a:lnTo>
                  <a:pt x="0" y="69242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45" t="0" r="-322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09966" y="933450"/>
            <a:ext cx="406806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Competitors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65346" y="831444"/>
            <a:ext cx="5623640" cy="8624112"/>
          </a:xfrm>
          <a:custGeom>
            <a:avLst/>
            <a:gdLst/>
            <a:ahLst/>
            <a:cxnLst/>
            <a:rect r="r" b="b" t="t" l="l"/>
            <a:pathLst>
              <a:path h="8624112" w="5623640">
                <a:moveTo>
                  <a:pt x="0" y="0"/>
                </a:moveTo>
                <a:lnTo>
                  <a:pt x="5623640" y="0"/>
                </a:lnTo>
                <a:lnTo>
                  <a:pt x="5623640" y="8624112"/>
                </a:lnTo>
                <a:lnTo>
                  <a:pt x="0" y="8624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4161155"/>
            <a:ext cx="9144000" cy="17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23031"/>
            <a:ext cx="5163706" cy="122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73"/>
              </a:lnSpc>
            </a:pPr>
            <a:r>
              <a:rPr lang="en-US" sz="7195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Modules</a:t>
            </a:r>
          </a:p>
        </p:txBody>
      </p:sp>
      <p:sp>
        <p:nvSpPr>
          <p:cNvPr name="AutoShape 3" id="3"/>
          <p:cNvSpPr/>
          <p:nvPr/>
        </p:nvSpPr>
        <p:spPr>
          <a:xfrm>
            <a:off x="7248998" y="1028700"/>
            <a:ext cx="0" cy="822960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890277" y="2731265"/>
            <a:ext cx="9659051" cy="356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Resume Screening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Test Creation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Interview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 Scoring and Analytics</a:t>
            </a:r>
          </a:p>
          <a:p>
            <a:pPr algn="l" marL="1036320" indent="-518160" lvl="1">
              <a:lnSpc>
                <a:spcPts val="5664"/>
              </a:lnSpc>
              <a:buAutoNum type="arabicPeriod" startAt="1"/>
            </a:pPr>
            <a:r>
              <a:rPr lang="en-US" sz="48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Integration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28041" y="3046079"/>
            <a:ext cx="8231919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AI Resume Screening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Resum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 Parsing Engine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Job-Resume Matching System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Fraud Detection System</a:t>
            </a:r>
          </a:p>
          <a:p>
            <a:pPr algn="ctr" marL="734059" indent="-367030" lvl="1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Resume Recommendation Engine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</a:t>
            </a: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Figma Designs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Working Frontend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  <a:p>
            <a:pPr algn="ctr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572000" y="838200"/>
            <a:ext cx="9144000" cy="177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Module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64359" y="1577298"/>
            <a:ext cx="13559281" cy="8138786"/>
          </a:xfrm>
          <a:custGeom>
            <a:avLst/>
            <a:gdLst/>
            <a:ahLst/>
            <a:cxnLst/>
            <a:rect r="r" b="b" t="t" l="l"/>
            <a:pathLst>
              <a:path h="8138786" w="13559281">
                <a:moveTo>
                  <a:pt x="0" y="0"/>
                </a:moveTo>
                <a:lnTo>
                  <a:pt x="13559282" y="0"/>
                </a:lnTo>
                <a:lnTo>
                  <a:pt x="13559282" y="8138786"/>
                </a:lnTo>
                <a:lnTo>
                  <a:pt x="0" y="81387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47269" y="537527"/>
            <a:ext cx="679346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System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39474" y="0"/>
            <a:ext cx="9248526" cy="10287000"/>
          </a:xfrm>
          <a:custGeom>
            <a:avLst/>
            <a:gdLst/>
            <a:ahLst/>
            <a:cxnLst/>
            <a:rect r="r" b="b" t="t" l="l"/>
            <a:pathLst>
              <a:path h="10287000" w="9248526">
                <a:moveTo>
                  <a:pt x="0" y="0"/>
                </a:moveTo>
                <a:lnTo>
                  <a:pt x="9248526" y="0"/>
                </a:lnTo>
                <a:lnTo>
                  <a:pt x="92485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75028" y="1471715"/>
            <a:ext cx="9525" cy="738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467724" y="3065145"/>
            <a:ext cx="6211713" cy="3861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0"/>
              </a:lnSpc>
              <a:spcBef>
                <a:spcPct val="0"/>
              </a:spcBef>
            </a:pPr>
            <a:r>
              <a:rPr lang="en-US" b="true" sz="104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 Case Diagram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58700" y="0"/>
            <a:ext cx="4800600" cy="10287000"/>
          </a:xfrm>
          <a:custGeom>
            <a:avLst/>
            <a:gdLst/>
            <a:ahLst/>
            <a:cxnLst/>
            <a:rect r="r" b="b" t="t" l="l"/>
            <a:pathLst>
              <a:path h="10287000" w="4800600">
                <a:moveTo>
                  <a:pt x="0" y="0"/>
                </a:moveTo>
                <a:lnTo>
                  <a:pt x="4800600" y="0"/>
                </a:lnTo>
                <a:lnTo>
                  <a:pt x="48006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237230"/>
            <a:ext cx="9606556" cy="362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Domain Model Diagram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58603" y="1767492"/>
            <a:ext cx="13570793" cy="7750195"/>
          </a:xfrm>
          <a:custGeom>
            <a:avLst/>
            <a:gdLst/>
            <a:ahLst/>
            <a:cxnLst/>
            <a:rect r="r" b="b" t="t" l="l"/>
            <a:pathLst>
              <a:path h="7750195" w="13570793">
                <a:moveTo>
                  <a:pt x="0" y="0"/>
                </a:moveTo>
                <a:lnTo>
                  <a:pt x="13570794" y="0"/>
                </a:lnTo>
                <a:lnTo>
                  <a:pt x="13570794" y="7750196"/>
                </a:lnTo>
                <a:lnTo>
                  <a:pt x="0" y="7750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99932" y="537527"/>
            <a:ext cx="508813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Resume Parsing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23062" y="1684283"/>
            <a:ext cx="12841875" cy="7932360"/>
          </a:xfrm>
          <a:custGeom>
            <a:avLst/>
            <a:gdLst/>
            <a:ahLst/>
            <a:cxnLst/>
            <a:rect r="r" b="b" t="t" l="l"/>
            <a:pathLst>
              <a:path h="7932360" w="12841875">
                <a:moveTo>
                  <a:pt x="0" y="0"/>
                </a:moveTo>
                <a:lnTo>
                  <a:pt x="12841876" y="0"/>
                </a:lnTo>
                <a:lnTo>
                  <a:pt x="12841876" y="7932360"/>
                </a:lnTo>
                <a:lnTo>
                  <a:pt x="0" y="7932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80757" y="537527"/>
            <a:ext cx="71264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Job Description JSON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867412"/>
            <a:ext cx="16230600" cy="4552176"/>
          </a:xfrm>
          <a:custGeom>
            <a:avLst/>
            <a:gdLst/>
            <a:ahLst/>
            <a:cxnLst/>
            <a:rect r="r" b="b" t="t" l="l"/>
            <a:pathLst>
              <a:path h="4552176" w="16230600">
                <a:moveTo>
                  <a:pt x="0" y="0"/>
                </a:moveTo>
                <a:lnTo>
                  <a:pt x="16230600" y="0"/>
                </a:lnTo>
                <a:lnTo>
                  <a:pt x="16230600" y="4552176"/>
                </a:lnTo>
                <a:lnTo>
                  <a:pt x="0" y="4552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89016" y="537527"/>
            <a:ext cx="450996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Output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46949" y="1786028"/>
            <a:ext cx="8994103" cy="7756480"/>
          </a:xfrm>
          <a:custGeom>
            <a:avLst/>
            <a:gdLst/>
            <a:ahLst/>
            <a:cxnLst/>
            <a:rect r="r" b="b" t="t" l="l"/>
            <a:pathLst>
              <a:path h="7756480" w="8994103">
                <a:moveTo>
                  <a:pt x="0" y="0"/>
                </a:moveTo>
                <a:lnTo>
                  <a:pt x="8994102" y="0"/>
                </a:lnTo>
                <a:lnTo>
                  <a:pt x="8994102" y="7756480"/>
                </a:lnTo>
                <a:lnTo>
                  <a:pt x="0" y="775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37581" y="537527"/>
            <a:ext cx="461283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Figma Designs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82240" y="1028700"/>
            <a:ext cx="12923520" cy="8229600"/>
          </a:xfrm>
          <a:custGeom>
            <a:avLst/>
            <a:gdLst/>
            <a:ahLst/>
            <a:cxnLst/>
            <a:rect r="r" b="b" t="t" l="l"/>
            <a:pathLst>
              <a:path h="8229600" w="12923520">
                <a:moveTo>
                  <a:pt x="0" y="0"/>
                </a:moveTo>
                <a:lnTo>
                  <a:pt x="12923520" y="0"/>
                </a:lnTo>
                <a:lnTo>
                  <a:pt x="129235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24981" y="2007036"/>
            <a:ext cx="6005044" cy="5412270"/>
          </a:xfrm>
          <a:custGeom>
            <a:avLst/>
            <a:gdLst/>
            <a:ahLst/>
            <a:cxnLst/>
            <a:rect r="r" b="b" t="t" l="l"/>
            <a:pathLst>
              <a:path h="5412270" w="6005044">
                <a:moveTo>
                  <a:pt x="0" y="0"/>
                </a:moveTo>
                <a:lnTo>
                  <a:pt x="6005044" y="0"/>
                </a:lnTo>
                <a:lnTo>
                  <a:pt x="6005044" y="5412270"/>
                </a:lnTo>
                <a:lnTo>
                  <a:pt x="0" y="54122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421" t="0" r="-1528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44941" y="1875208"/>
            <a:ext cx="5469749" cy="5675926"/>
          </a:xfrm>
          <a:custGeom>
            <a:avLst/>
            <a:gdLst/>
            <a:ahLst/>
            <a:cxnLst/>
            <a:rect r="r" b="b" t="t" l="l"/>
            <a:pathLst>
              <a:path h="5675926" w="5469749">
                <a:moveTo>
                  <a:pt x="0" y="0"/>
                </a:moveTo>
                <a:lnTo>
                  <a:pt x="5469749" y="0"/>
                </a:lnTo>
                <a:lnTo>
                  <a:pt x="5469749" y="5675926"/>
                </a:lnTo>
                <a:lnTo>
                  <a:pt x="0" y="5675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06026" y="537527"/>
            <a:ext cx="567594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and Sign up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41125"/>
            <a:ext cx="7295123" cy="6204749"/>
          </a:xfrm>
          <a:custGeom>
            <a:avLst/>
            <a:gdLst/>
            <a:ahLst/>
            <a:cxnLst/>
            <a:rect r="r" b="b" t="t" l="l"/>
            <a:pathLst>
              <a:path h="6204749" w="7295123">
                <a:moveTo>
                  <a:pt x="0" y="0"/>
                </a:moveTo>
                <a:lnTo>
                  <a:pt x="7295123" y="0"/>
                </a:lnTo>
                <a:lnTo>
                  <a:pt x="7295123" y="6204750"/>
                </a:lnTo>
                <a:lnTo>
                  <a:pt x="0" y="6204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59013" y="2041125"/>
            <a:ext cx="6172093" cy="6204749"/>
          </a:xfrm>
          <a:custGeom>
            <a:avLst/>
            <a:gdLst/>
            <a:ahLst/>
            <a:cxnLst/>
            <a:rect r="r" b="b" t="t" l="l"/>
            <a:pathLst>
              <a:path h="6204749" w="6172093">
                <a:moveTo>
                  <a:pt x="0" y="0"/>
                </a:moveTo>
                <a:lnTo>
                  <a:pt x="6172092" y="0"/>
                </a:lnTo>
                <a:lnTo>
                  <a:pt x="6172092" y="6204750"/>
                </a:lnTo>
                <a:lnTo>
                  <a:pt x="0" y="6204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37527"/>
            <a:ext cx="729512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Candidate Portal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00100" y="537527"/>
            <a:ext cx="558141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Comapany Portal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28846" y="3591786"/>
            <a:ext cx="7230309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you!</a:t>
            </a:r>
          </a:p>
          <a:p>
            <a:pPr algn="ctr">
              <a:lnSpc>
                <a:spcPts val="10500"/>
              </a:lnSpc>
            </a:pPr>
            <a:r>
              <a:rPr lang="en-US" sz="75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Questions?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3450"/>
            <a:ext cx="363390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19175" y="2323973"/>
            <a:ext cx="16230600" cy="1819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261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 for Dataset:</a:t>
            </a:r>
          </a:p>
          <a:p>
            <a:pPr algn="l" marL="563810" indent="-281905" lvl="1">
              <a:lnSpc>
                <a:spcPts val="3656"/>
              </a:lnSpc>
              <a:buFont typeface="Arial"/>
              <a:buChar char="•"/>
            </a:pPr>
            <a:r>
              <a:rPr lang="en-US" sz="261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Khalil, Y. (2023). Resumes Images Dataset. Kaggle. Retrieved from </a:t>
            </a:r>
            <a:r>
              <a:rPr lang="en-US" sz="2611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kaggle.com/datasets/youssefkhalil/resumes-images-datasets"/>
              </a:rPr>
              <a:t>https://www.kaggle.com/datasets/youssefkhalil/resumes-images-datasets</a:t>
            </a:r>
          </a:p>
          <a:p>
            <a:pPr algn="l">
              <a:lnSpc>
                <a:spcPts val="3656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DAGkRuyudm4</dc:identifier>
  <dcterms:modified xsi:type="dcterms:W3CDTF">2011-08-01T06:04:30Z</dcterms:modified>
  <cp:revision>1</cp:revision>
  <dc:title>Mid Eval</dc:title>
</cp:coreProperties>
</file>