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Now Bold" charset="1" panose="00000800000000000000"/>
      <p:regular r:id="rId27"/>
    </p:embeddedFont>
    <p:embeddedFont>
      <p:font typeface="Canva Sans Bold" charset="1" panose="020B0803030501040103"/>
      <p:regular r:id="rId28"/>
    </p:embeddedFont>
    <p:embeddedFont>
      <p:font typeface="Canva Sans" charset="1" panose="020B0503030501040103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jpeg" Type="http://schemas.openxmlformats.org/officeDocument/2006/relationships/image"/><Relationship Id="rId8" Target="../media/image16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hbs.edu/recruiting/insights-and-advice/blog/post/actively-addressing-unconscious-bias-in-recruiting" TargetMode="External" Type="http://schemas.openxmlformats.org/officeDocument/2006/relationships/hyperlink"/><Relationship Id="rId3" Target="https://www.beapplied.com/post/recruitment-bias-report-how-bias-affects-hiring-and-how-to-remove-it" TargetMode="External" Type="http://schemas.openxmlformats.org/officeDocument/2006/relationships/hyperlink"/><Relationship Id="rId4" Target="https://www.kaggle.com/datasets/youssefkhalil/resumes-images-datasets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1392544" y="4154952"/>
            <a:ext cx="11958151" cy="1929323"/>
            <a:chOff x="0" y="0"/>
            <a:chExt cx="3149472" cy="5081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49472" cy="508135"/>
            </a:xfrm>
            <a:custGeom>
              <a:avLst/>
              <a:gdLst/>
              <a:ahLst/>
              <a:cxnLst/>
              <a:rect r="r" b="b" t="t" l="l"/>
              <a:pathLst>
                <a:path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208957" y="-1011147"/>
            <a:ext cx="2647750" cy="2647750"/>
          </a:xfrm>
          <a:custGeom>
            <a:avLst/>
            <a:gdLst/>
            <a:ahLst/>
            <a:cxnLst/>
            <a:rect r="r" b="b" t="t" l="l"/>
            <a:pathLst>
              <a:path h="2647750" w="2647750">
                <a:moveTo>
                  <a:pt x="0" y="0"/>
                </a:moveTo>
                <a:lnTo>
                  <a:pt x="2647750" y="0"/>
                </a:lnTo>
                <a:lnTo>
                  <a:pt x="2647750" y="2647750"/>
                </a:lnTo>
                <a:lnTo>
                  <a:pt x="0" y="26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95175" y="8630507"/>
            <a:ext cx="2647750" cy="2647750"/>
          </a:xfrm>
          <a:custGeom>
            <a:avLst/>
            <a:gdLst/>
            <a:ahLst/>
            <a:cxnLst/>
            <a:rect r="r" b="b" t="t" l="l"/>
            <a:pathLst>
              <a:path h="2647750" w="2647750">
                <a:moveTo>
                  <a:pt x="0" y="0"/>
                </a:moveTo>
                <a:lnTo>
                  <a:pt x="2647750" y="0"/>
                </a:lnTo>
                <a:lnTo>
                  <a:pt x="2647750" y="2647751"/>
                </a:lnTo>
                <a:lnTo>
                  <a:pt x="0" y="2647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06958" y="312728"/>
            <a:ext cx="1881042" cy="1881042"/>
          </a:xfrm>
          <a:custGeom>
            <a:avLst/>
            <a:gdLst/>
            <a:ahLst/>
            <a:cxnLst/>
            <a:rect r="r" b="b" t="t" l="l"/>
            <a:pathLst>
              <a:path h="1881042" w="1881042">
                <a:moveTo>
                  <a:pt x="0" y="0"/>
                </a:moveTo>
                <a:lnTo>
                  <a:pt x="1881042" y="0"/>
                </a:lnTo>
                <a:lnTo>
                  <a:pt x="1881042" y="1881042"/>
                </a:lnTo>
                <a:lnTo>
                  <a:pt x="0" y="18810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406958" y="2368073"/>
            <a:ext cx="1881042" cy="1881042"/>
          </a:xfrm>
          <a:custGeom>
            <a:avLst/>
            <a:gdLst/>
            <a:ahLst/>
            <a:cxnLst/>
            <a:rect r="r" b="b" t="t" l="l"/>
            <a:pathLst>
              <a:path h="1881042" w="1881042">
                <a:moveTo>
                  <a:pt x="0" y="0"/>
                </a:moveTo>
                <a:lnTo>
                  <a:pt x="1881042" y="0"/>
                </a:lnTo>
                <a:lnTo>
                  <a:pt x="1881042" y="1881042"/>
                </a:lnTo>
                <a:lnTo>
                  <a:pt x="0" y="18810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028700"/>
            <a:ext cx="14029209" cy="4286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75"/>
              </a:lnSpc>
            </a:pPr>
            <a:r>
              <a:rPr lang="en-US" sz="9395" b="true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AI</a:t>
            </a:r>
            <a:r>
              <a:rPr lang="en-US" sz="9395" b="true">
                <a:solidFill>
                  <a:srgbClr val="FFFBFB"/>
                </a:solidFill>
                <a:latin typeface="Now Bold"/>
                <a:ea typeface="Now Bold"/>
                <a:cs typeface="Now Bold"/>
                <a:sym typeface="Now Bold"/>
              </a:rPr>
              <a:t>-DRIVEN JOB </a:t>
            </a:r>
            <a:r>
              <a:rPr lang="en-US" sz="9395" b="true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INTERVIEW</a:t>
            </a:r>
            <a:r>
              <a:rPr lang="en-US" sz="9395" b="true">
                <a:solidFill>
                  <a:srgbClr val="FFFBFB"/>
                </a:solidFill>
                <a:latin typeface="Now Bold"/>
                <a:ea typeface="Now Bold"/>
                <a:cs typeface="Now Bold"/>
                <a:sym typeface="Now Bold"/>
              </a:rPr>
              <a:t> ANALYZER</a:t>
            </a:r>
          </a:p>
          <a:p>
            <a:pPr algn="l">
              <a:lnSpc>
                <a:spcPts val="1127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800488"/>
            <a:ext cx="10896957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Short Title: Interview Den (S25-47-D)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877685"/>
            <a:ext cx="6761917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Team:       Hamza Saeed  21i-0671</a:t>
            </a:r>
          </a:p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Waleed Saeed  21i-1672</a:t>
            </a:r>
          </a:p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Asad Ullah Shah 21i-0545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427503" y="6877685"/>
            <a:ext cx="6210658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Supervisor: Dr. Mehreen Alam</a:t>
            </a:r>
          </a:p>
          <a:p>
            <a:pPr algn="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53177" y="1713167"/>
            <a:ext cx="12506123" cy="6316036"/>
            <a:chOff x="0" y="0"/>
            <a:chExt cx="16674830" cy="84213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4597543" y="180621"/>
              <a:ext cx="12077287" cy="8057815"/>
            </a:xfrm>
            <a:custGeom>
              <a:avLst/>
              <a:gdLst/>
              <a:ahLst/>
              <a:cxnLst/>
              <a:rect r="r" b="b" t="t" l="l"/>
              <a:pathLst>
                <a:path h="8057815" w="12077287">
                  <a:moveTo>
                    <a:pt x="0" y="0"/>
                  </a:moveTo>
                  <a:lnTo>
                    <a:pt x="12077287" y="0"/>
                  </a:lnTo>
                  <a:lnTo>
                    <a:pt x="12077287" y="8057815"/>
                  </a:lnTo>
                  <a:lnTo>
                    <a:pt x="0" y="80578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-10800000">
              <a:off x="0" y="0"/>
              <a:ext cx="9624435" cy="8421381"/>
              <a:chOff x="0" y="0"/>
              <a:chExt cx="812800" cy="7112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51D4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127000" y="22225"/>
                <a:ext cx="558800" cy="358775"/>
              </a:xfrm>
              <a:prstGeom prst="rect">
                <a:avLst/>
              </a:prstGeom>
            </p:spPr>
            <p:txBody>
              <a:bodyPr anchor="ctr" rtlCol="false" tIns="55048" lIns="55048" bIns="55048" rIns="55048"/>
              <a:lstStyle/>
              <a:p>
                <a:pPr algn="ctr">
                  <a:lnSpc>
                    <a:spcPts val="2590"/>
                  </a:lnSpc>
                </a:pPr>
              </a:p>
            </p:txBody>
          </p:sp>
        </p:grpSp>
      </p:grpSp>
      <p:sp>
        <p:nvSpPr>
          <p:cNvPr name="TextBox 7" id="7"/>
          <p:cNvSpPr txBox="true"/>
          <p:nvPr/>
        </p:nvSpPr>
        <p:spPr>
          <a:xfrm rot="0">
            <a:off x="1028700" y="2488302"/>
            <a:ext cx="11371407" cy="4757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70"/>
              </a:lnSpc>
            </a:pPr>
            <a:r>
              <a:rPr lang="en-US" sz="1369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Overview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59971" y="1342302"/>
            <a:ext cx="10168057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Type of Project: </a:t>
            </a:r>
            <a:r>
              <a:rPr lang="en-US" sz="5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Development</a:t>
            </a:r>
          </a:p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Company Name: </a:t>
            </a:r>
            <a:r>
              <a:rPr lang="en-US" sz="5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Developers Den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80977" y="3559944"/>
            <a:ext cx="440638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Focus: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780977" y="4683058"/>
            <a:ext cx="12726046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AI-Driven Job Interview Analyzer aims to automate and optimize the hiring process by leveraging AI. </a:t>
            </a:r>
          </a:p>
          <a:p>
            <a:pPr algn="just">
              <a:lnSpc>
                <a:spcPts val="4759"/>
              </a:lnSpc>
            </a:pP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provides an efficient, unbiased, and transparent evaluation system for both companies and candidates.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39238" y="4819967"/>
            <a:ext cx="95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0" y="3344013"/>
            <a:ext cx="9139238" cy="341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77"/>
              </a:lnSpc>
            </a:pPr>
            <a:r>
              <a:rPr lang="en-US" sz="984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Statement</a:t>
            </a:r>
          </a:p>
        </p:txBody>
      </p:sp>
      <p:sp>
        <p:nvSpPr>
          <p:cNvPr name="AutoShape 4" id="4"/>
          <p:cNvSpPr/>
          <p:nvPr/>
        </p:nvSpPr>
        <p:spPr>
          <a:xfrm>
            <a:off x="9144000" y="1028700"/>
            <a:ext cx="0" cy="822960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9972155" y="619442"/>
            <a:ext cx="7287145" cy="8381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Hiring is slow, biased, and inefficient, with manual resume screening and lengthy interviews delaying talent acquisition. 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Candidates face all sorts of  uncertainty due to human error.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 AI-driven solution is needed to automate this process, ensuring a faster, fairer, and more effective hiring process.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39238" y="4819967"/>
            <a:ext cx="95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0" y="3958902"/>
            <a:ext cx="9139238" cy="1674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77"/>
              </a:lnSpc>
            </a:pPr>
            <a:r>
              <a:rPr lang="en-US" sz="984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Motivation</a:t>
            </a:r>
          </a:p>
        </p:txBody>
      </p:sp>
      <p:sp>
        <p:nvSpPr>
          <p:cNvPr name="AutoShape 4" id="4"/>
          <p:cNvSpPr/>
          <p:nvPr/>
        </p:nvSpPr>
        <p:spPr>
          <a:xfrm>
            <a:off x="9144000" y="1028700"/>
            <a:ext cx="0" cy="822960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9972155" y="1219517"/>
            <a:ext cx="7287145" cy="7781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As students ourselves who have experienced tedious and often superficial interviews, we understand the challenges of finding a job through a fair and effective process. 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Our AI-driven interviewer aims to make job opportunities more accessible by providing a more objective, unbiased, and efficient interview experience for candidates like us.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09966" y="933450"/>
            <a:ext cx="406806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Competitors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763868" y="2616419"/>
            <a:ext cx="10760264" cy="496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7317" indent="-433659" lvl="1">
              <a:lnSpc>
                <a:spcPts val="5624"/>
              </a:lnSpc>
              <a:buFont typeface="Arial"/>
              <a:buChar char="•"/>
            </a:pPr>
            <a:r>
              <a:rPr lang="en-US" b="true" sz="401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RozeeGPT</a:t>
            </a:r>
          </a:p>
          <a:p>
            <a:pPr algn="l" marL="1302845" indent="-434282" lvl="2">
              <a:lnSpc>
                <a:spcPts val="4224"/>
              </a:lnSpc>
              <a:buFont typeface="Arial"/>
              <a:buChar char="⚬"/>
            </a:pPr>
            <a:r>
              <a:rPr lang="en-US" sz="301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AI-Generated Job Descriptions</a:t>
            </a:r>
          </a:p>
          <a:p>
            <a:pPr algn="l" marL="1302845" indent="-434282" lvl="2">
              <a:lnSpc>
                <a:spcPts val="4224"/>
              </a:lnSpc>
              <a:buFont typeface="Arial"/>
              <a:buChar char="⚬"/>
            </a:pPr>
            <a:r>
              <a:rPr lang="en-US" sz="301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Candidate Filtering</a:t>
            </a:r>
          </a:p>
          <a:p>
            <a:pPr algn="l" marL="1302845" indent="-434282" lvl="2">
              <a:lnSpc>
                <a:spcPts val="4224"/>
              </a:lnSpc>
              <a:buFont typeface="Arial"/>
              <a:buChar char="⚬"/>
            </a:pPr>
            <a:r>
              <a:rPr lang="en-US" sz="301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Screening Tools</a:t>
            </a:r>
          </a:p>
          <a:p>
            <a:pPr algn="l" marL="1302845" indent="-434282" lvl="2">
              <a:lnSpc>
                <a:spcPts val="4224"/>
              </a:lnSpc>
              <a:buFont typeface="Arial"/>
              <a:buChar char="⚬"/>
            </a:pPr>
            <a:r>
              <a:rPr lang="en-US" sz="301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Proactive Matching via WhatsApp</a:t>
            </a:r>
          </a:p>
          <a:p>
            <a:pPr algn="l">
              <a:lnSpc>
                <a:spcPts val="4224"/>
              </a:lnSpc>
            </a:pPr>
          </a:p>
          <a:p>
            <a:pPr algn="just">
              <a:lnSpc>
                <a:spcPts val="4224"/>
              </a:lnSpc>
            </a:pPr>
            <a:r>
              <a:rPr lang="en-US" sz="301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Their platform is overly complex, whereas ours is straightforward, focused, and delivers a streamlined user experience.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34466" y="1028700"/>
            <a:ext cx="6127919" cy="8229600"/>
          </a:xfrm>
          <a:custGeom>
            <a:avLst/>
            <a:gdLst/>
            <a:ahLst/>
            <a:cxnLst/>
            <a:rect r="r" b="b" t="t" l="l"/>
            <a:pathLst>
              <a:path h="8229600" w="6127919">
                <a:moveTo>
                  <a:pt x="0" y="0"/>
                </a:moveTo>
                <a:lnTo>
                  <a:pt x="6127919" y="0"/>
                </a:lnTo>
                <a:lnTo>
                  <a:pt x="61279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412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039822"/>
            <a:ext cx="9105766" cy="5883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81"/>
              </a:lnSpc>
            </a:pPr>
            <a:r>
              <a:rPr lang="en-US" sz="16915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Scope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82697" y="1519555"/>
            <a:ext cx="14522607" cy="718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Our AI-driven interviewer streamlines recruitment by automating resume screening, test creation, and interview monitoring, ensuring a faster and fairer hiring process. 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Designed for students, job seekers, and companies, it leverages AI for objective evaluation, real-time assessments, and customizable scoring. 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With dedicated company and candidate portals, it simplifies job applications, talent acquisition, and decision-making, making hiring more efficient, transparent, and unbiased.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07084" y="1835864"/>
            <a:ext cx="8804554" cy="6615271"/>
          </a:xfrm>
          <a:custGeom>
            <a:avLst/>
            <a:gdLst/>
            <a:ahLst/>
            <a:cxnLst/>
            <a:rect r="r" b="b" t="t" l="l"/>
            <a:pathLst>
              <a:path h="6615271" w="8804554">
                <a:moveTo>
                  <a:pt x="0" y="0"/>
                </a:moveTo>
                <a:lnTo>
                  <a:pt x="8804554" y="0"/>
                </a:lnTo>
                <a:lnTo>
                  <a:pt x="8804554" y="6615272"/>
                </a:lnTo>
                <a:lnTo>
                  <a:pt x="0" y="6615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765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10092263">
            <a:off x="3149152" y="1439497"/>
            <a:ext cx="9447969" cy="8266973"/>
            <a:chOff x="0" y="0"/>
            <a:chExt cx="812800" cy="711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657564"/>
            <a:ext cx="9946838" cy="4714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9"/>
              </a:lnSpc>
            </a:pPr>
            <a:r>
              <a:rPr lang="en-US" sz="1350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High-Level Features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82697" y="2719705"/>
            <a:ext cx="14522607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AI Resume Screening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Objective: Aut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omate resume evaluation for efficient job matching.</a:t>
            </a: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Implementation Options:</a:t>
            </a:r>
          </a:p>
          <a:p>
            <a:pPr algn="l" marL="1468119" indent="-489373" lvl="2">
              <a:lnSpc>
                <a:spcPts val="4759"/>
              </a:lnSpc>
              <a:spcBef>
                <a:spcPct val="0"/>
              </a:spcBef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Standardized Parsing: Convert various CV formats into a structured template for analysis.</a:t>
            </a: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Scoring:</a:t>
            </a:r>
          </a:p>
          <a:p>
            <a:pPr algn="l" marL="1468119" indent="-489373" lvl="2">
              <a:lnSpc>
                <a:spcPts val="4759"/>
              </a:lnSpc>
              <a:spcBef>
                <a:spcPct val="0"/>
              </a:spcBef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Assign a CV Score based on job requirement fulfillment.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36778" y="1519555"/>
            <a:ext cx="13614443" cy="718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AI Test Creati</a:t>
            </a:r>
            <a:r>
              <a:rPr lang="en-US" b="true" sz="33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Objective: Generate dynamic, AI-powered tests customized to job roles.</a:t>
            </a:r>
          </a:p>
          <a:p>
            <a:pPr algn="just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Features:</a:t>
            </a:r>
          </a:p>
          <a:p>
            <a:pPr algn="just" marL="1468119" indent="-489373" lvl="2">
              <a:lnSpc>
                <a:spcPts val="4759"/>
              </a:lnSpc>
              <a:spcBef>
                <a:spcPct val="0"/>
              </a:spcBef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AI-generated customized questions based on job descriptions.</a:t>
            </a:r>
          </a:p>
          <a:p>
            <a:pPr algn="just" marL="1468119" indent="-489373" lvl="2">
              <a:lnSpc>
                <a:spcPts val="4759"/>
              </a:lnSpc>
              <a:spcBef>
                <a:spcPct val="0"/>
              </a:spcBef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Option for companies to add their own questions and set difficulty levels.</a:t>
            </a:r>
          </a:p>
          <a:p>
            <a:pPr algn="just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Test Stages:</a:t>
            </a:r>
          </a:p>
          <a:p>
            <a:pPr algn="just" marL="1468119" indent="-489373" lvl="2">
              <a:lnSpc>
                <a:spcPts val="4759"/>
              </a:lnSpc>
              <a:spcBef>
                <a:spcPct val="0"/>
              </a:spcBef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Basic Aptitude – General knowledge assessment.</a:t>
            </a:r>
          </a:p>
          <a:p>
            <a:pPr algn="just" marL="1468119" indent="-489373" lvl="2">
              <a:lnSpc>
                <a:spcPts val="4759"/>
              </a:lnSpc>
              <a:spcBef>
                <a:spcPct val="0"/>
              </a:spcBef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Technical Questions – Role-specific skills evaluation.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46548" y="2419667"/>
            <a:ext cx="13194904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AI Interview &amp; Test Monit</a:t>
            </a:r>
            <a:r>
              <a:rPr lang="en-US" b="true" sz="33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oring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Objective: Ensure fair, real-time evaluation through AI-assisted monitoring.</a:t>
            </a:r>
          </a:p>
          <a:p>
            <a:pPr algn="just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Features:</a:t>
            </a:r>
          </a:p>
          <a:p>
            <a:pPr algn="just" marL="1468119" indent="-489373" lvl="2">
              <a:lnSpc>
                <a:spcPts val="4759"/>
              </a:lnSpc>
              <a:spcBef>
                <a:spcPct val="0"/>
              </a:spcBef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Real-time test proctoring and AI-based response analysis.</a:t>
            </a:r>
          </a:p>
          <a:p>
            <a:pPr algn="just" marL="1468119" indent="-489373" lvl="2">
              <a:lnSpc>
                <a:spcPts val="4759"/>
              </a:lnSpc>
              <a:spcBef>
                <a:spcPct val="0"/>
              </a:spcBef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Evaluate technical, communication, and soft skills for a holistic assessment.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86062" y="1219517"/>
            <a:ext cx="14315876" cy="7781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 AI-Based Sc</a:t>
            </a:r>
            <a:r>
              <a:rPr lang="en-US" b="true" sz="33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oring &amp; Insights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Objective: Provide an unbiased, transparent evaluation process.</a:t>
            </a:r>
          </a:p>
          <a:p>
            <a:pPr algn="just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Scoring Components:</a:t>
            </a:r>
          </a:p>
          <a:p>
            <a:pPr algn="just" marL="1468119" indent="-489373" lvl="2">
              <a:lnSpc>
                <a:spcPts val="4759"/>
              </a:lnSpc>
              <a:spcBef>
                <a:spcPct val="0"/>
              </a:spcBef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Resume Screening – CV relevance scoring.</a:t>
            </a:r>
          </a:p>
          <a:p>
            <a:pPr algn="just" marL="1468119" indent="-489373" lvl="2">
              <a:lnSpc>
                <a:spcPts val="4759"/>
              </a:lnSpc>
              <a:spcBef>
                <a:spcPct val="0"/>
              </a:spcBef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Quiz &amp; Technical Test – Knowledge and skills validation.</a:t>
            </a:r>
          </a:p>
          <a:p>
            <a:pPr algn="just" marL="1468119" indent="-489373" lvl="2">
              <a:lnSpc>
                <a:spcPts val="4759"/>
              </a:lnSpc>
              <a:spcBef>
                <a:spcPct val="0"/>
              </a:spcBef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Interview – Communication and problem-solving assessment.</a:t>
            </a:r>
          </a:p>
          <a:p>
            <a:pPr algn="just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Customization &amp; Reporting:</a:t>
            </a:r>
          </a:p>
          <a:p>
            <a:pPr algn="just" marL="1468119" indent="-489373" lvl="2">
              <a:lnSpc>
                <a:spcPts val="4759"/>
              </a:lnSpc>
              <a:spcBef>
                <a:spcPct val="0"/>
              </a:spcBef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Companies can prioritize specific criteria (skills, experience, etc.).</a:t>
            </a:r>
          </a:p>
          <a:p>
            <a:pPr algn="just" marL="1468119" indent="-489373" lvl="2">
              <a:lnSpc>
                <a:spcPts val="4759"/>
              </a:lnSpc>
              <a:spcBef>
                <a:spcPct val="0"/>
              </a:spcBef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Visualized recruitment pipeline with detailed reports for hiring decisions.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04148" y="1271440"/>
            <a:ext cx="14879703" cy="7667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8"/>
              </a:lnSpc>
            </a:pPr>
            <a:r>
              <a:rPr lang="en-US" sz="336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 Portals </a:t>
            </a:r>
          </a:p>
          <a:p>
            <a:pPr algn="l">
              <a:lnSpc>
                <a:spcPts val="4708"/>
              </a:lnSpc>
            </a:pPr>
            <a:r>
              <a:rPr lang="en-US" sz="33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Objective: Ensure ease of use, and accessibility for both recruiters and job seekers.</a:t>
            </a:r>
          </a:p>
          <a:p>
            <a:pPr algn="l">
              <a:lnSpc>
                <a:spcPts val="4708"/>
              </a:lnSpc>
            </a:pPr>
          </a:p>
          <a:p>
            <a:pPr algn="l" marL="726148" indent="-363074" lvl="1">
              <a:lnSpc>
                <a:spcPts val="4708"/>
              </a:lnSpc>
              <a:buFont typeface="Arial"/>
              <a:buChar char="•"/>
            </a:pPr>
            <a:r>
              <a:rPr lang="en-US" sz="33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Company Portal</a:t>
            </a:r>
          </a:p>
          <a:p>
            <a:pPr algn="l" marL="1452296" indent="-484099" lvl="2">
              <a:lnSpc>
                <a:spcPts val="4708"/>
              </a:lnSpc>
              <a:buFont typeface="Arial"/>
              <a:buChar char="⚬"/>
            </a:pPr>
            <a:r>
              <a:rPr lang="en-US" sz="33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Create Job Postings</a:t>
            </a:r>
          </a:p>
          <a:p>
            <a:pPr algn="l" marL="1452296" indent="-484099" lvl="2">
              <a:lnSpc>
                <a:spcPts val="4708"/>
              </a:lnSpc>
              <a:buFont typeface="Arial"/>
              <a:buChar char="⚬"/>
            </a:pPr>
            <a:r>
              <a:rPr lang="en-US" sz="33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Create &amp; Manage Tests </a:t>
            </a:r>
          </a:p>
          <a:p>
            <a:pPr algn="l" marL="1452296" indent="-484099" lvl="2">
              <a:lnSpc>
                <a:spcPts val="4708"/>
              </a:lnSpc>
              <a:buFont typeface="Arial"/>
              <a:buChar char="⚬"/>
            </a:pPr>
            <a:r>
              <a:rPr lang="en-US" sz="33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Candidate Metrics</a:t>
            </a:r>
          </a:p>
          <a:p>
            <a:pPr algn="l">
              <a:lnSpc>
                <a:spcPts val="4708"/>
              </a:lnSpc>
            </a:pPr>
          </a:p>
          <a:p>
            <a:pPr algn="l" marL="726148" indent="-363074" lvl="1">
              <a:lnSpc>
                <a:spcPts val="4708"/>
              </a:lnSpc>
              <a:buFont typeface="Arial"/>
              <a:buChar char="•"/>
            </a:pPr>
            <a:r>
              <a:rPr lang="en-US" sz="33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Candidate Portal</a:t>
            </a:r>
          </a:p>
          <a:p>
            <a:pPr algn="l" marL="1452296" indent="-484099" lvl="2">
              <a:lnSpc>
                <a:spcPts val="4708"/>
              </a:lnSpc>
              <a:buFont typeface="Arial"/>
              <a:buChar char="⚬"/>
            </a:pPr>
            <a:r>
              <a:rPr lang="en-US" sz="33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Job Dashboard</a:t>
            </a:r>
          </a:p>
          <a:p>
            <a:pPr algn="l" marL="1452296" indent="-484099" lvl="2">
              <a:lnSpc>
                <a:spcPts val="4708"/>
              </a:lnSpc>
              <a:buFont typeface="Arial"/>
              <a:buChar char="⚬"/>
            </a:pPr>
            <a:r>
              <a:rPr lang="en-US" sz="33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Live Progress Tracking</a:t>
            </a:r>
          </a:p>
          <a:p>
            <a:pPr algn="l" marL="1452296" indent="-484099" lvl="2">
              <a:lnSpc>
                <a:spcPts val="4708"/>
              </a:lnSpc>
              <a:buFont typeface="Arial"/>
              <a:buChar char="⚬"/>
            </a:pPr>
            <a:r>
              <a:rPr lang="en-US" sz="33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Constructive Feedback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528034" y="3036998"/>
            <a:ext cx="7055818" cy="5902363"/>
          </a:xfrm>
          <a:custGeom>
            <a:avLst/>
            <a:gdLst/>
            <a:ahLst/>
            <a:cxnLst/>
            <a:rect r="r" b="b" t="t" l="l"/>
            <a:pathLst>
              <a:path h="5902363" w="7055818">
                <a:moveTo>
                  <a:pt x="0" y="0"/>
                </a:moveTo>
                <a:lnTo>
                  <a:pt x="7055818" y="0"/>
                </a:lnTo>
                <a:lnTo>
                  <a:pt x="7055818" y="5902362"/>
                </a:lnTo>
                <a:lnTo>
                  <a:pt x="0" y="59023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823031"/>
            <a:ext cx="5163706" cy="2507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73"/>
              </a:lnSpc>
            </a:pPr>
            <a:r>
              <a:rPr lang="en-US" sz="7195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Expected Outcomes</a:t>
            </a:r>
          </a:p>
        </p:txBody>
      </p:sp>
      <p:sp>
        <p:nvSpPr>
          <p:cNvPr name="AutoShape 3" id="3"/>
          <p:cNvSpPr/>
          <p:nvPr/>
        </p:nvSpPr>
        <p:spPr>
          <a:xfrm>
            <a:off x="7248998" y="1028700"/>
            <a:ext cx="0" cy="822960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7969405" y="1661871"/>
            <a:ext cx="9659051" cy="6972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0652" indent="-425326" lvl="1">
              <a:lnSpc>
                <a:spcPts val="4649"/>
              </a:lnSpc>
              <a:buFont typeface="Arial"/>
              <a:buChar char="•"/>
            </a:pPr>
            <a:r>
              <a:rPr lang="en-US" sz="394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Faster Hiring Process</a:t>
            </a:r>
          </a:p>
          <a:p>
            <a:pPr algn="l">
              <a:lnSpc>
                <a:spcPts val="4649"/>
              </a:lnSpc>
            </a:pPr>
          </a:p>
          <a:p>
            <a:pPr algn="l" marL="850652" indent="-425326" lvl="1">
              <a:lnSpc>
                <a:spcPts val="4649"/>
              </a:lnSpc>
              <a:buFont typeface="Arial"/>
              <a:buChar char="•"/>
            </a:pPr>
            <a:r>
              <a:rPr lang="en-US" sz="394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Higher Quality Hires</a:t>
            </a:r>
          </a:p>
          <a:p>
            <a:pPr algn="l">
              <a:lnSpc>
                <a:spcPts val="4649"/>
              </a:lnSpc>
            </a:pPr>
          </a:p>
          <a:p>
            <a:pPr algn="l" marL="850652" indent="-425326" lvl="1">
              <a:lnSpc>
                <a:spcPts val="4649"/>
              </a:lnSpc>
              <a:buFont typeface="Arial"/>
              <a:buChar char="•"/>
            </a:pPr>
            <a:r>
              <a:rPr lang="en-US" sz="394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Reduced Recruitment Costs</a:t>
            </a:r>
          </a:p>
          <a:p>
            <a:pPr algn="l">
              <a:lnSpc>
                <a:spcPts val="4649"/>
              </a:lnSpc>
            </a:pPr>
          </a:p>
          <a:p>
            <a:pPr algn="l" marL="850652" indent="-425326" lvl="1">
              <a:lnSpc>
                <a:spcPts val="4649"/>
              </a:lnSpc>
              <a:buFont typeface="Arial"/>
              <a:buChar char="•"/>
            </a:pPr>
            <a:r>
              <a:rPr lang="en-US" sz="394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Improved Candidate Experience</a:t>
            </a:r>
          </a:p>
          <a:p>
            <a:pPr algn="l">
              <a:lnSpc>
                <a:spcPts val="4649"/>
              </a:lnSpc>
            </a:pPr>
          </a:p>
          <a:p>
            <a:pPr algn="l" marL="850652" indent="-425326" lvl="1">
              <a:lnSpc>
                <a:spcPts val="4649"/>
              </a:lnSpc>
              <a:buFont typeface="Arial"/>
              <a:buChar char="•"/>
            </a:pPr>
            <a:r>
              <a:rPr lang="en-US" sz="394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Data-Driven Hiring Decisions</a:t>
            </a:r>
          </a:p>
          <a:p>
            <a:pPr algn="l">
              <a:lnSpc>
                <a:spcPts val="4649"/>
              </a:lnSpc>
            </a:pPr>
          </a:p>
          <a:p>
            <a:pPr algn="l" marL="850652" indent="-425326" lvl="1">
              <a:lnSpc>
                <a:spcPts val="4649"/>
              </a:lnSpc>
              <a:buFont typeface="Arial"/>
              <a:buChar char="•"/>
            </a:pPr>
            <a:r>
              <a:rPr lang="en-US" sz="394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Scalable Global Recruitment</a:t>
            </a:r>
          </a:p>
          <a:p>
            <a:pPr algn="l">
              <a:lnSpc>
                <a:spcPts val="4649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8117" y="2321601"/>
            <a:ext cx="6321542" cy="6936699"/>
          </a:xfrm>
          <a:custGeom>
            <a:avLst/>
            <a:gdLst/>
            <a:ahLst/>
            <a:cxnLst/>
            <a:rect r="r" b="b" t="t" l="l"/>
            <a:pathLst>
              <a:path h="6936699" w="6321542">
                <a:moveTo>
                  <a:pt x="0" y="0"/>
                </a:moveTo>
                <a:lnTo>
                  <a:pt x="6321541" y="0"/>
                </a:lnTo>
                <a:lnTo>
                  <a:pt x="6321541" y="6936699"/>
                </a:lnTo>
                <a:lnTo>
                  <a:pt x="0" y="69366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803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75028" y="1471715"/>
            <a:ext cx="9525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9718513" y="1296223"/>
            <a:ext cx="7185470" cy="844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6"/>
              </a:lnSpc>
            </a:pPr>
            <a:r>
              <a:rPr lang="en-US" sz="3708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Uses:</a:t>
            </a:r>
          </a:p>
          <a:p>
            <a:pPr algn="l">
              <a:lnSpc>
                <a:spcPts val="3486"/>
              </a:lnSpc>
            </a:pPr>
          </a:p>
          <a:p>
            <a:pPr algn="l" marL="593131" indent="-296566" lvl="1">
              <a:lnSpc>
                <a:spcPts val="2582"/>
              </a:lnSpc>
              <a:buFont typeface="Arial"/>
              <a:buChar char="•"/>
            </a:pPr>
            <a:r>
              <a:rPr lang="en-US" sz="27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Streamline</a:t>
            </a:r>
            <a:r>
              <a:rPr lang="en-US" sz="27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 Recruitment Process</a:t>
            </a:r>
          </a:p>
          <a:p>
            <a:pPr algn="l">
              <a:lnSpc>
                <a:spcPts val="2582"/>
              </a:lnSpc>
            </a:pPr>
          </a:p>
          <a:p>
            <a:pPr algn="l" marL="593131" indent="-296566" lvl="1">
              <a:lnSpc>
                <a:spcPts val="2582"/>
              </a:lnSpc>
              <a:buFont typeface="Arial"/>
              <a:buChar char="•"/>
            </a:pPr>
            <a:r>
              <a:rPr lang="en-US" sz="27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Enhanced Candidate Matching</a:t>
            </a:r>
          </a:p>
          <a:p>
            <a:pPr algn="l">
              <a:lnSpc>
                <a:spcPts val="2582"/>
              </a:lnSpc>
            </a:pPr>
          </a:p>
          <a:p>
            <a:pPr algn="l" marL="593131" indent="-296566" lvl="1">
              <a:lnSpc>
                <a:spcPts val="2582"/>
              </a:lnSpc>
              <a:buFont typeface="Arial"/>
              <a:buChar char="•"/>
            </a:pPr>
            <a:r>
              <a:rPr lang="en-US" sz="27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Instant Feedback for Candidates</a:t>
            </a:r>
          </a:p>
          <a:p>
            <a:pPr algn="l">
              <a:lnSpc>
                <a:spcPts val="2582"/>
              </a:lnSpc>
            </a:pPr>
          </a:p>
          <a:p>
            <a:pPr algn="l" marL="593131" indent="-296566" lvl="1">
              <a:lnSpc>
                <a:spcPts val="2582"/>
              </a:lnSpc>
              <a:buFont typeface="Arial"/>
              <a:buChar char="•"/>
            </a:pPr>
            <a:r>
              <a:rPr lang="en-US" sz="27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Cost-Effective Recruitment</a:t>
            </a:r>
          </a:p>
          <a:p>
            <a:pPr algn="l">
              <a:lnSpc>
                <a:spcPts val="2582"/>
              </a:lnSpc>
            </a:pPr>
          </a:p>
          <a:p>
            <a:pPr algn="l" marL="593131" indent="-296566" lvl="1">
              <a:lnSpc>
                <a:spcPts val="2582"/>
              </a:lnSpc>
              <a:buFont typeface="Arial"/>
              <a:buChar char="•"/>
            </a:pPr>
            <a:r>
              <a:rPr lang="en-US" sz="27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Data-Driven Decision Making</a:t>
            </a:r>
          </a:p>
          <a:p>
            <a:pPr algn="l">
              <a:lnSpc>
                <a:spcPts val="2582"/>
              </a:lnSpc>
            </a:pPr>
          </a:p>
          <a:p>
            <a:pPr algn="l">
              <a:lnSpc>
                <a:spcPts val="2582"/>
              </a:lnSpc>
            </a:pPr>
          </a:p>
          <a:p>
            <a:pPr algn="l">
              <a:lnSpc>
                <a:spcPts val="3486"/>
              </a:lnSpc>
            </a:pPr>
            <a:r>
              <a:rPr lang="en-US" sz="3708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Impact:</a:t>
            </a:r>
          </a:p>
          <a:p>
            <a:pPr algn="l">
              <a:lnSpc>
                <a:spcPts val="3486"/>
              </a:lnSpc>
            </a:pPr>
          </a:p>
          <a:p>
            <a:pPr algn="l" marL="593131" indent="-296566" lvl="1">
              <a:lnSpc>
                <a:spcPts val="2582"/>
              </a:lnSpc>
              <a:buFont typeface="Arial"/>
              <a:buChar char="•"/>
            </a:pPr>
            <a:r>
              <a:rPr lang="en-US" sz="27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Improved Hiring Efficiency</a:t>
            </a:r>
          </a:p>
          <a:p>
            <a:pPr algn="l">
              <a:lnSpc>
                <a:spcPts val="2582"/>
              </a:lnSpc>
            </a:pPr>
          </a:p>
          <a:p>
            <a:pPr algn="l" marL="593131" indent="-296566" lvl="1">
              <a:lnSpc>
                <a:spcPts val="2582"/>
              </a:lnSpc>
              <a:buFont typeface="Arial"/>
              <a:buChar char="•"/>
            </a:pPr>
            <a:r>
              <a:rPr lang="en-US" sz="27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Lower Employee Turnover</a:t>
            </a:r>
          </a:p>
          <a:p>
            <a:pPr algn="l">
              <a:lnSpc>
                <a:spcPts val="2582"/>
              </a:lnSpc>
            </a:pPr>
          </a:p>
          <a:p>
            <a:pPr algn="l" marL="593131" indent="-296566" lvl="1">
              <a:lnSpc>
                <a:spcPts val="2582"/>
              </a:lnSpc>
              <a:buFont typeface="Arial"/>
              <a:buChar char="•"/>
            </a:pPr>
            <a:r>
              <a:rPr lang="en-US" sz="27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Increased Job Seekers’ Confidence</a:t>
            </a:r>
          </a:p>
          <a:p>
            <a:pPr algn="l">
              <a:lnSpc>
                <a:spcPts val="2582"/>
              </a:lnSpc>
            </a:pPr>
          </a:p>
          <a:p>
            <a:pPr algn="l" marL="593131" indent="-296566" lvl="1">
              <a:lnSpc>
                <a:spcPts val="2582"/>
              </a:lnSpc>
              <a:buFont typeface="Arial"/>
              <a:buChar char="•"/>
            </a:pPr>
            <a:r>
              <a:rPr lang="en-US" sz="27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Optimized Resource Allocation</a:t>
            </a:r>
          </a:p>
          <a:p>
            <a:pPr algn="l">
              <a:lnSpc>
                <a:spcPts val="2582"/>
              </a:lnSpc>
            </a:pPr>
          </a:p>
          <a:p>
            <a:pPr algn="l" marL="593131" indent="-296566" lvl="1">
              <a:lnSpc>
                <a:spcPts val="2582"/>
              </a:lnSpc>
              <a:buFont typeface="Arial"/>
              <a:buChar char="•"/>
            </a:pPr>
            <a:r>
              <a:rPr lang="en-US" sz="27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Global Reach and Scalability</a:t>
            </a:r>
          </a:p>
          <a:p>
            <a:pPr algn="l">
              <a:lnSpc>
                <a:spcPts val="271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95350"/>
            <a:ext cx="7140375" cy="119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22"/>
              </a:lnSpc>
            </a:pPr>
            <a:r>
              <a:rPr lang="en-US" sz="6944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Uses and Impact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23925"/>
            <a:ext cx="3117973" cy="991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5"/>
              </a:lnSpc>
            </a:pPr>
            <a:r>
              <a:rPr lang="en-US" sz="5825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Timeline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55718" y="4543899"/>
            <a:ext cx="15376564" cy="2088791"/>
            <a:chOff x="0" y="0"/>
            <a:chExt cx="20502086" cy="2785055"/>
          </a:xfrm>
        </p:grpSpPr>
        <p:sp>
          <p:nvSpPr>
            <p:cNvPr name="AutoShape 4" id="4"/>
            <p:cNvSpPr/>
            <p:nvPr/>
          </p:nvSpPr>
          <p:spPr>
            <a:xfrm>
              <a:off x="0" y="1392609"/>
              <a:ext cx="20502086" cy="0"/>
            </a:xfrm>
            <a:prstGeom prst="line">
              <a:avLst/>
            </a:prstGeom>
            <a:ln cap="flat" w="70549">
              <a:solidFill>
                <a:srgbClr val="FFFFFF"/>
              </a:solidFill>
              <a:prstDash val="sysDot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 flipV="true">
              <a:off x="2837289" y="1392446"/>
              <a:ext cx="0" cy="1392609"/>
            </a:xfrm>
            <a:prstGeom prst="line">
              <a:avLst/>
            </a:prstGeom>
            <a:ln cap="flat" w="70549">
              <a:solidFill>
                <a:srgbClr val="FFFFFF"/>
              </a:solidFill>
              <a:prstDash val="sysDot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 flipV="true">
              <a:off x="7358006" y="0"/>
              <a:ext cx="0" cy="1392609"/>
            </a:xfrm>
            <a:prstGeom prst="line">
              <a:avLst/>
            </a:prstGeom>
            <a:ln cap="flat" w="70549">
              <a:solidFill>
                <a:srgbClr val="FFFFFF"/>
              </a:solidFill>
              <a:prstDash val="sysDot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 flipV="true">
              <a:off x="11870250" y="1392446"/>
              <a:ext cx="0" cy="1392609"/>
            </a:xfrm>
            <a:prstGeom prst="line">
              <a:avLst/>
            </a:prstGeom>
            <a:ln cap="flat" w="70549">
              <a:solidFill>
                <a:srgbClr val="FFFFFF"/>
              </a:solidFill>
              <a:prstDash val="sysDot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 flipV="true">
              <a:off x="16382494" y="0"/>
              <a:ext cx="0" cy="1392609"/>
            </a:xfrm>
            <a:prstGeom prst="line">
              <a:avLst/>
            </a:prstGeom>
            <a:ln cap="flat" w="70549">
              <a:solidFill>
                <a:srgbClr val="FFFFFF"/>
              </a:solidFill>
              <a:prstDash val="sysDot"/>
              <a:headEnd type="none" len="sm" w="sm"/>
              <a:tailEnd type="none" len="sm" w="sm"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748495" y="6594590"/>
            <a:ext cx="3795461" cy="2611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3"/>
              </a:lnSpc>
            </a:pPr>
            <a:r>
              <a:rPr lang="en-US" b="true" sz="2202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Iteration 1</a:t>
            </a:r>
          </a:p>
          <a:p>
            <a:pPr algn="ctr">
              <a:lnSpc>
                <a:spcPts val="3083"/>
              </a:lnSpc>
            </a:pPr>
            <a:r>
              <a:rPr lang="en-US" b="true" sz="2202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JAN-MAR</a:t>
            </a:r>
          </a:p>
          <a:p>
            <a:pPr algn="just">
              <a:lnSpc>
                <a:spcPts val="2452"/>
              </a:lnSpc>
            </a:pP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 collection &amp; preprocessing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Poster making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Initial testing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AI-Powered Resume Screening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Frontend UI/UX Figma Designs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83450" y="1344464"/>
            <a:ext cx="3534868" cy="2728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b="true" sz="2293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Iteration 2</a:t>
            </a:r>
          </a:p>
          <a:p>
            <a:pPr algn="ctr">
              <a:lnSpc>
                <a:spcPts val="3210"/>
              </a:lnSpc>
            </a:pPr>
            <a:r>
              <a:rPr lang="en-US" b="true" sz="2293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APR-MAY</a:t>
            </a:r>
          </a:p>
          <a:p>
            <a:pPr algn="just">
              <a:lnSpc>
                <a:spcPts val="2554"/>
              </a:lnSpc>
            </a:pP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Model training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Testing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Fully Developed Frontend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Basic </a:t>
            </a: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Backend Functionality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AI-Generated Test Creation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23196" y="981075"/>
            <a:ext cx="4060964" cy="3454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b="true" sz="2293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Iteration 4</a:t>
            </a:r>
          </a:p>
          <a:p>
            <a:pPr algn="ctr">
              <a:lnSpc>
                <a:spcPts val="3210"/>
              </a:lnSpc>
            </a:pPr>
            <a:r>
              <a:rPr lang="en-US" b="true" sz="2293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NOV - DEC</a:t>
            </a:r>
          </a:p>
          <a:p>
            <a:pPr algn="ctr">
              <a:lnSpc>
                <a:spcPts val="3210"/>
              </a:lnSpc>
            </a:pP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User testing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Complete Portal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Complete AI Systems integration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Scoring and Ranking Systems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Real-Time Feedback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model finetuning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Final testing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86124" y="6594590"/>
            <a:ext cx="3811861" cy="2918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3"/>
              </a:lnSpc>
            </a:pPr>
            <a:r>
              <a:rPr lang="en-US" b="true" sz="2202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Iteraton 3</a:t>
            </a:r>
          </a:p>
          <a:p>
            <a:pPr algn="ctr">
              <a:lnSpc>
                <a:spcPts val="3083"/>
              </a:lnSpc>
            </a:pPr>
            <a:r>
              <a:rPr lang="en-US" b="true" sz="2202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SEP-OCT</a:t>
            </a:r>
          </a:p>
          <a:p>
            <a:pPr algn="just">
              <a:lnSpc>
                <a:spcPts val="2452"/>
              </a:lnSpc>
            </a:pP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Fully functional Portals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Basic Setup of AI Systems 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Scoring System Implementation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Testing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Initial rollout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Cloud deployment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80175" y="933450"/>
            <a:ext cx="572765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 Distribution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62840" y="3205261"/>
            <a:ext cx="5225512" cy="503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Waleed Saeed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 Preprocessing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Resume Screening AI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Test Creation AI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Interview AI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Integration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Testing</a:t>
            </a: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5808778" y="3205261"/>
            <a:ext cx="6199047" cy="4471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6"/>
              </a:lnSpc>
            </a:pPr>
            <a:r>
              <a:rPr lang="en-US" sz="3204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Asad Ullah Shah</a:t>
            </a:r>
          </a:p>
          <a:p>
            <a:pPr algn="ctr">
              <a:lnSpc>
                <a:spcPts val="4486"/>
              </a:lnSpc>
            </a:pPr>
          </a:p>
          <a:p>
            <a:pPr algn="just" marL="691949" indent="-345975" lvl="1">
              <a:lnSpc>
                <a:spcPts val="4486"/>
              </a:lnSpc>
              <a:buFont typeface="Arial"/>
              <a:buChar char="•"/>
            </a:pPr>
            <a:r>
              <a:rPr lang="en-US" sz="32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UI/UX Design</a:t>
            </a:r>
          </a:p>
          <a:p>
            <a:pPr algn="just" marL="691949" indent="-345975" lvl="1">
              <a:lnSpc>
                <a:spcPts val="4486"/>
              </a:lnSpc>
              <a:buFont typeface="Arial"/>
              <a:buChar char="•"/>
            </a:pPr>
            <a:r>
              <a:rPr lang="en-US" sz="32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Company Port</a:t>
            </a:r>
            <a:r>
              <a:rPr lang="en-US" sz="32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 Frontend</a:t>
            </a:r>
          </a:p>
          <a:p>
            <a:pPr algn="just" marL="691949" indent="-345975" lvl="1">
              <a:lnSpc>
                <a:spcPts val="4486"/>
              </a:lnSpc>
              <a:buFont typeface="Arial"/>
              <a:buChar char="•"/>
            </a:pPr>
            <a:r>
              <a:rPr lang="en-US" sz="32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Test Creation AI</a:t>
            </a:r>
          </a:p>
          <a:p>
            <a:pPr algn="just" marL="691949" indent="-345975" lvl="1">
              <a:lnSpc>
                <a:spcPts val="4486"/>
              </a:lnSpc>
              <a:buFont typeface="Arial"/>
              <a:buChar char="•"/>
            </a:pPr>
            <a:r>
              <a:rPr lang="en-US" sz="32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Backend Development</a:t>
            </a:r>
          </a:p>
          <a:p>
            <a:pPr algn="just" marL="691949" indent="-345975" lvl="1">
              <a:lnSpc>
                <a:spcPts val="4486"/>
              </a:lnSpc>
              <a:buFont typeface="Arial"/>
              <a:buChar char="•"/>
            </a:pPr>
            <a:r>
              <a:rPr lang="en-US" sz="32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Cloud Deployment</a:t>
            </a:r>
          </a:p>
          <a:p>
            <a:pPr algn="just" marL="691949" indent="-345975" lvl="1">
              <a:lnSpc>
                <a:spcPts val="4486"/>
              </a:lnSpc>
              <a:buFont typeface="Arial"/>
              <a:buChar char="•"/>
            </a:pPr>
            <a:r>
              <a:rPr lang="en-US" sz="32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Testing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15126" y="3205261"/>
            <a:ext cx="6106917" cy="5033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6"/>
              </a:lnSpc>
            </a:pPr>
            <a:r>
              <a:rPr lang="en-US" sz="3204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Hamza Saeed</a:t>
            </a:r>
          </a:p>
          <a:p>
            <a:pPr algn="ctr">
              <a:lnSpc>
                <a:spcPts val="4486"/>
              </a:lnSpc>
            </a:pPr>
          </a:p>
          <a:p>
            <a:pPr algn="just" marL="691949" indent="-345975" lvl="1">
              <a:lnSpc>
                <a:spcPts val="4486"/>
              </a:lnSpc>
              <a:buFont typeface="Arial"/>
              <a:buChar char="•"/>
            </a:pPr>
            <a:r>
              <a:rPr lang="en-US" sz="32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Candidate Portal Frontend</a:t>
            </a:r>
          </a:p>
          <a:p>
            <a:pPr algn="just" marL="691949" indent="-345975" lvl="1">
              <a:lnSpc>
                <a:spcPts val="4486"/>
              </a:lnSpc>
              <a:buFont typeface="Arial"/>
              <a:buChar char="•"/>
            </a:pPr>
            <a:r>
              <a:rPr lang="en-US" sz="32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Resume Screening AI</a:t>
            </a:r>
          </a:p>
          <a:p>
            <a:pPr algn="just" marL="691949" indent="-345975" lvl="1">
              <a:lnSpc>
                <a:spcPts val="4486"/>
              </a:lnSpc>
              <a:buFont typeface="Arial"/>
              <a:buChar char="•"/>
            </a:pPr>
            <a:r>
              <a:rPr lang="en-US" sz="32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Scoring System</a:t>
            </a:r>
          </a:p>
          <a:p>
            <a:pPr algn="just" marL="691949" indent="-345975" lvl="1">
              <a:lnSpc>
                <a:spcPts val="4486"/>
              </a:lnSpc>
              <a:buFont typeface="Arial"/>
              <a:buChar char="•"/>
            </a:pPr>
            <a:r>
              <a:rPr lang="en-US" sz="32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Analytics Dashboard</a:t>
            </a:r>
          </a:p>
          <a:p>
            <a:pPr algn="just" marL="691949" indent="-345975" lvl="1">
              <a:lnSpc>
                <a:spcPts val="4486"/>
              </a:lnSpc>
              <a:buFont typeface="Arial"/>
              <a:buChar char="•"/>
            </a:pPr>
            <a:r>
              <a:rPr lang="en-US" sz="32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System Integration</a:t>
            </a:r>
          </a:p>
          <a:p>
            <a:pPr algn="just" marL="691949" indent="-345975" lvl="1">
              <a:lnSpc>
                <a:spcPts val="4486"/>
              </a:lnSpc>
              <a:buFont typeface="Arial"/>
              <a:buChar char="•"/>
            </a:pPr>
            <a:r>
              <a:rPr lang="en-US" sz="32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User Testing</a:t>
            </a:r>
          </a:p>
          <a:p>
            <a:pPr algn="just">
              <a:lnSpc>
                <a:spcPts val="4486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43515" y="1482519"/>
            <a:ext cx="2141313" cy="2141313"/>
          </a:xfrm>
          <a:custGeom>
            <a:avLst/>
            <a:gdLst/>
            <a:ahLst/>
            <a:cxnLst/>
            <a:rect r="r" b="b" t="t" l="l"/>
            <a:pathLst>
              <a:path h="2141313" w="2141313">
                <a:moveTo>
                  <a:pt x="0" y="0"/>
                </a:moveTo>
                <a:lnTo>
                  <a:pt x="2141313" y="0"/>
                </a:lnTo>
                <a:lnTo>
                  <a:pt x="2141313" y="2141313"/>
                </a:lnTo>
                <a:lnTo>
                  <a:pt x="0" y="21413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831" t="-516" r="-27694" b="-232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79018" y="923540"/>
            <a:ext cx="5317529" cy="3541557"/>
          </a:xfrm>
          <a:custGeom>
            <a:avLst/>
            <a:gdLst/>
            <a:ahLst/>
            <a:cxnLst/>
            <a:rect r="r" b="b" t="t" l="l"/>
            <a:pathLst>
              <a:path h="3541557" w="5317529">
                <a:moveTo>
                  <a:pt x="0" y="0"/>
                </a:moveTo>
                <a:lnTo>
                  <a:pt x="5317529" y="0"/>
                </a:lnTo>
                <a:lnTo>
                  <a:pt x="5317529" y="3541557"/>
                </a:lnTo>
                <a:lnTo>
                  <a:pt x="0" y="35415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02687" y="4161883"/>
            <a:ext cx="2982141" cy="1668092"/>
          </a:xfrm>
          <a:custGeom>
            <a:avLst/>
            <a:gdLst/>
            <a:ahLst/>
            <a:cxnLst/>
            <a:rect r="r" b="b" t="t" l="l"/>
            <a:pathLst>
              <a:path h="1668092" w="2982141">
                <a:moveTo>
                  <a:pt x="0" y="0"/>
                </a:moveTo>
                <a:lnTo>
                  <a:pt x="2982141" y="0"/>
                </a:lnTo>
                <a:lnTo>
                  <a:pt x="2982141" y="1668092"/>
                </a:lnTo>
                <a:lnTo>
                  <a:pt x="0" y="16680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639314" y="4357365"/>
            <a:ext cx="6057233" cy="1277128"/>
          </a:xfrm>
          <a:custGeom>
            <a:avLst/>
            <a:gdLst/>
            <a:ahLst/>
            <a:cxnLst/>
            <a:rect r="r" b="b" t="t" l="l"/>
            <a:pathLst>
              <a:path h="1277128" w="6057233">
                <a:moveTo>
                  <a:pt x="0" y="0"/>
                </a:moveTo>
                <a:lnTo>
                  <a:pt x="6057233" y="0"/>
                </a:lnTo>
                <a:lnTo>
                  <a:pt x="6057233" y="1277128"/>
                </a:lnTo>
                <a:lnTo>
                  <a:pt x="0" y="12771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8570" t="-171534" r="-27606" b="-140097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265632" y="6764387"/>
            <a:ext cx="4138397" cy="1085481"/>
          </a:xfrm>
          <a:custGeom>
            <a:avLst/>
            <a:gdLst/>
            <a:ahLst/>
            <a:cxnLst/>
            <a:rect r="r" b="b" t="t" l="l"/>
            <a:pathLst>
              <a:path h="1085481" w="4138397">
                <a:moveTo>
                  <a:pt x="0" y="0"/>
                </a:moveTo>
                <a:lnTo>
                  <a:pt x="4138397" y="0"/>
                </a:lnTo>
                <a:lnTo>
                  <a:pt x="4138397" y="1085481"/>
                </a:lnTo>
                <a:lnTo>
                  <a:pt x="0" y="10854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1553" t="-117883" r="-13520" b="-13974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899329" y="6297004"/>
            <a:ext cx="3701596" cy="1552865"/>
          </a:xfrm>
          <a:custGeom>
            <a:avLst/>
            <a:gdLst/>
            <a:ahLst/>
            <a:cxnLst/>
            <a:rect r="r" b="b" t="t" l="l"/>
            <a:pathLst>
              <a:path h="1552865" w="3701596">
                <a:moveTo>
                  <a:pt x="0" y="0"/>
                </a:moveTo>
                <a:lnTo>
                  <a:pt x="3701596" y="0"/>
                </a:lnTo>
                <a:lnTo>
                  <a:pt x="3701596" y="1552864"/>
                </a:lnTo>
                <a:lnTo>
                  <a:pt x="0" y="15528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3209" t="-78765" r="-22136" b="-81083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143682" y="6297004"/>
            <a:ext cx="1552865" cy="1552865"/>
          </a:xfrm>
          <a:custGeom>
            <a:avLst/>
            <a:gdLst/>
            <a:ahLst/>
            <a:cxnLst/>
            <a:rect r="r" b="b" t="t" l="l"/>
            <a:pathLst>
              <a:path h="1552865" w="1552865">
                <a:moveTo>
                  <a:pt x="0" y="0"/>
                </a:moveTo>
                <a:lnTo>
                  <a:pt x="1552865" y="0"/>
                </a:lnTo>
                <a:lnTo>
                  <a:pt x="1552865" y="1552864"/>
                </a:lnTo>
                <a:lnTo>
                  <a:pt x="0" y="15528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933450"/>
            <a:ext cx="174986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Tools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448401"/>
            <a:ext cx="4897993" cy="5675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16353" indent="-408176" lvl="1">
              <a:lnSpc>
                <a:spcPts val="5671"/>
              </a:lnSpc>
              <a:buFont typeface="Arial"/>
              <a:buChar char="•"/>
            </a:pPr>
            <a:r>
              <a:rPr lang="en-US" sz="378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React</a:t>
            </a:r>
          </a:p>
          <a:p>
            <a:pPr algn="just" marL="816353" indent="-408176" lvl="1">
              <a:lnSpc>
                <a:spcPts val="5671"/>
              </a:lnSpc>
              <a:buFont typeface="Arial"/>
              <a:buChar char="•"/>
            </a:pPr>
            <a:r>
              <a:rPr lang="en-US" sz="378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Node JS</a:t>
            </a:r>
          </a:p>
          <a:p>
            <a:pPr algn="just" marL="816353" indent="-408176" lvl="1">
              <a:lnSpc>
                <a:spcPts val="5671"/>
              </a:lnSpc>
              <a:buFont typeface="Arial"/>
              <a:buChar char="•"/>
            </a:pPr>
            <a:r>
              <a:rPr lang="en-US" sz="378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Express</a:t>
            </a:r>
          </a:p>
          <a:p>
            <a:pPr algn="just" marL="816353" indent="-408176" lvl="1">
              <a:lnSpc>
                <a:spcPts val="5671"/>
              </a:lnSpc>
              <a:buFont typeface="Arial"/>
              <a:buChar char="•"/>
            </a:pPr>
            <a:r>
              <a:rPr lang="en-US" sz="378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Flask API</a:t>
            </a:r>
          </a:p>
          <a:p>
            <a:pPr algn="just" marL="816353" indent="-408176" lvl="1">
              <a:lnSpc>
                <a:spcPts val="5671"/>
              </a:lnSpc>
              <a:buFont typeface="Arial"/>
              <a:buChar char="•"/>
            </a:pPr>
            <a:r>
              <a:rPr lang="en-US" sz="378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SupaBase (Cloud)</a:t>
            </a:r>
          </a:p>
          <a:p>
            <a:pPr algn="just" marL="816353" indent="-408176" lvl="1">
              <a:lnSpc>
                <a:spcPts val="5671"/>
              </a:lnSpc>
              <a:buFont typeface="Arial"/>
              <a:buChar char="•"/>
            </a:pPr>
            <a:r>
              <a:rPr lang="en-US" sz="378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LangChain LLM</a:t>
            </a:r>
          </a:p>
          <a:p>
            <a:pPr algn="just" marL="816353" indent="-408176" lvl="1">
              <a:lnSpc>
                <a:spcPts val="5671"/>
              </a:lnSpc>
              <a:buFont typeface="Arial"/>
              <a:buChar char="•"/>
            </a:pPr>
            <a:r>
              <a:rPr lang="en-US" sz="378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Gen AI</a:t>
            </a:r>
          </a:p>
          <a:p>
            <a:pPr algn="just" marL="816353" indent="-408176" lvl="1">
              <a:lnSpc>
                <a:spcPts val="5671"/>
              </a:lnSpc>
              <a:buFont typeface="Arial"/>
              <a:buChar char="•"/>
            </a:pPr>
            <a:r>
              <a:rPr lang="en-US" sz="378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NLP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28846" y="3591786"/>
            <a:ext cx="7230309" cy="26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you!</a:t>
            </a:r>
          </a:p>
          <a:p>
            <a:pPr algn="ctr">
              <a:lnSpc>
                <a:spcPts val="10500"/>
              </a:lnSpc>
            </a:pPr>
            <a:r>
              <a:rPr lang="en-US" sz="7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Any Questions?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33450"/>
            <a:ext cx="363390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323973"/>
            <a:ext cx="16230600" cy="5934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6"/>
              </a:lnSpc>
            </a:pPr>
            <a:r>
              <a:rPr lang="en-US" sz="261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References for Your Proposal:</a:t>
            </a:r>
          </a:p>
          <a:p>
            <a:pPr algn="l" marL="563810" indent="-281905" lvl="1">
              <a:lnSpc>
                <a:spcPts val="3656"/>
              </a:lnSpc>
              <a:buFont typeface="Arial"/>
              <a:buChar char="•"/>
            </a:pPr>
            <a:r>
              <a:rPr lang="en-US" sz="261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Harvard Business School. (2023, June 16). Actively </a:t>
            </a:r>
            <a:r>
              <a:rPr lang="en-US" sz="261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Addressing Unconscious Bias in Recruiting. Retrieved from </a:t>
            </a:r>
            <a:r>
              <a:rPr lang="en-US" sz="2611" u="sng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  <a:hlinkClick r:id="rId2" tooltip="https://www.hbs.edu/recruiting/insights-and-advice/blog/post/actively-addressing-unconscious-bias-in-recruiting"/>
              </a:rPr>
              <a:t>https://www.hbs.edu/recruiting/insights-and-advice/blog/post/actively-addressing-unconscious-bias-in-recruiting</a:t>
            </a:r>
          </a:p>
          <a:p>
            <a:pPr algn="l" marL="563810" indent="-281905" lvl="1">
              <a:lnSpc>
                <a:spcPts val="3656"/>
              </a:lnSpc>
              <a:buFont typeface="Arial"/>
              <a:buChar char="•"/>
            </a:pPr>
            <a:r>
              <a:rPr lang="en-US" sz="261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Caccavale, J. (2022, October 28). Recruitment Bias Report: How Bias Affects Hiring &amp; How to Remove It. Applied. Retrieved from </a:t>
            </a:r>
            <a:r>
              <a:rPr lang="en-US" sz="2611" u="sng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www.beapplied.com/post/recruitment-bias-report-how-bias-affects-hiring-and-how-to-remove-it"/>
              </a:rPr>
              <a:t>https://www.beapplied.com/post/recruitment-bias-report-how-bias-affects-hiring-and-how-to-remove-it</a:t>
            </a:r>
          </a:p>
          <a:p>
            <a:pPr algn="l">
              <a:lnSpc>
                <a:spcPts val="3656"/>
              </a:lnSpc>
            </a:pPr>
          </a:p>
          <a:p>
            <a:pPr algn="l">
              <a:lnSpc>
                <a:spcPts val="3656"/>
              </a:lnSpc>
            </a:pPr>
          </a:p>
          <a:p>
            <a:pPr algn="l">
              <a:lnSpc>
                <a:spcPts val="3656"/>
              </a:lnSpc>
            </a:pPr>
            <a:r>
              <a:rPr lang="en-US" sz="261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Reference for Dataset:</a:t>
            </a:r>
          </a:p>
          <a:p>
            <a:pPr algn="l" marL="563810" indent="-281905" lvl="1">
              <a:lnSpc>
                <a:spcPts val="3656"/>
              </a:lnSpc>
              <a:buFont typeface="Arial"/>
              <a:buChar char="•"/>
            </a:pPr>
            <a:r>
              <a:rPr lang="en-US" sz="261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Khalil, Y. (2023). Resumes Images Dataset. Kaggle. Retrieved from </a:t>
            </a:r>
            <a:r>
              <a:rPr lang="en-US" sz="2611" u="sng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  <a:hlinkClick r:id="rId4" tooltip="https://www.kaggle.com/datasets/youssefkhalil/resumes-images-datasets"/>
              </a:rPr>
              <a:t>https://www.kaggle.com/datasets/youssefkhalil/resumes-images-datasets</a:t>
            </a:r>
          </a:p>
          <a:p>
            <a:pPr algn="l">
              <a:lnSpc>
                <a:spcPts val="3656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DAGdmg05flE</dc:identifier>
  <dcterms:modified xsi:type="dcterms:W3CDTF">2011-08-01T06:04:30Z</dcterms:modified>
  <cp:revision>1</cp:revision>
  <dc:title>AI-Driven Job Interview Analyzer</dc:title>
</cp:coreProperties>
</file>