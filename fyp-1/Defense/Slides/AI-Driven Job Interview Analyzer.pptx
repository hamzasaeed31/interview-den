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Now Bold" charset="1" panose="00000800000000000000"/>
      <p:regular r:id="rId22"/>
    </p:embeddedFont>
    <p:embeddedFont>
      <p:font typeface="Canva Sans Bold" charset="1" panose="020B0803030501040103"/>
      <p:regular r:id="rId23"/>
    </p:embeddedFont>
    <p:embeddedFont>
      <p:font typeface="Canva Sans" charset="1" panose="020B05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1392544" y="4154952"/>
            <a:ext cx="11958151" cy="1929323"/>
            <a:chOff x="0" y="0"/>
            <a:chExt cx="3149472" cy="508135"/>
          </a:xfrm>
        </p:grpSpPr>
        <p:sp>
          <p:nvSpPr>
            <p:cNvPr name="Freeform 3" id="3"/>
            <p:cNvSpPr/>
            <p:nvPr/>
          </p:nvSpPr>
          <p:spPr>
            <a:xfrm flipH="false" flipV="false" rot="0">
              <a:off x="0" y="0"/>
              <a:ext cx="3149472" cy="508135"/>
            </a:xfrm>
            <a:custGeom>
              <a:avLst/>
              <a:gdLst/>
              <a:ahLst/>
              <a:cxnLst/>
              <a:rect r="r" b="b" t="t" l="l"/>
              <a:pathLst>
                <a:path h="508135" w="3149472">
                  <a:moveTo>
                    <a:pt x="0" y="0"/>
                  </a:moveTo>
                  <a:lnTo>
                    <a:pt x="3149472" y="0"/>
                  </a:lnTo>
                  <a:lnTo>
                    <a:pt x="3149472" y="508135"/>
                  </a:lnTo>
                  <a:lnTo>
                    <a:pt x="0" y="508135"/>
                  </a:lnTo>
                  <a:close/>
                </a:path>
              </a:pathLst>
            </a:custGeom>
            <a:solidFill>
              <a:srgbClr val="145DA0"/>
            </a:solidFill>
          </p:spPr>
        </p:sp>
        <p:sp>
          <p:nvSpPr>
            <p:cNvPr name="TextBox 4" id="4"/>
            <p:cNvSpPr txBox="true"/>
            <p:nvPr/>
          </p:nvSpPr>
          <p:spPr>
            <a:xfrm>
              <a:off x="0" y="-28575"/>
              <a:ext cx="3149472" cy="536710"/>
            </a:xfrm>
            <a:prstGeom prst="rect">
              <a:avLst/>
            </a:prstGeom>
          </p:spPr>
          <p:txBody>
            <a:bodyPr anchor="ctr" rtlCol="false" tIns="50800" lIns="50800" bIns="50800" rIns="50800"/>
            <a:lstStyle/>
            <a:p>
              <a:pPr algn="ctr">
                <a:lnSpc>
                  <a:spcPts val="2590"/>
                </a:lnSpc>
              </a:pPr>
            </a:p>
          </p:txBody>
        </p:sp>
      </p:grpSp>
      <p:sp>
        <p:nvSpPr>
          <p:cNvPr name="Freeform 5" id="5"/>
          <p:cNvSpPr/>
          <p:nvPr/>
        </p:nvSpPr>
        <p:spPr>
          <a:xfrm flipH="false" flipV="false" rot="0">
            <a:off x="11208957" y="-1011147"/>
            <a:ext cx="2647750" cy="2647750"/>
          </a:xfrm>
          <a:custGeom>
            <a:avLst/>
            <a:gdLst/>
            <a:ahLst/>
            <a:cxnLst/>
            <a:rect r="r" b="b" t="t" l="l"/>
            <a:pathLst>
              <a:path h="2647750" w="2647750">
                <a:moveTo>
                  <a:pt x="0" y="0"/>
                </a:moveTo>
                <a:lnTo>
                  <a:pt x="2647750" y="0"/>
                </a:lnTo>
                <a:lnTo>
                  <a:pt x="2647750" y="2647750"/>
                </a:lnTo>
                <a:lnTo>
                  <a:pt x="0" y="26477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95175" y="8630507"/>
            <a:ext cx="2647750" cy="2647750"/>
          </a:xfrm>
          <a:custGeom>
            <a:avLst/>
            <a:gdLst/>
            <a:ahLst/>
            <a:cxnLst/>
            <a:rect r="r" b="b" t="t" l="l"/>
            <a:pathLst>
              <a:path h="2647750" w="2647750">
                <a:moveTo>
                  <a:pt x="0" y="0"/>
                </a:moveTo>
                <a:lnTo>
                  <a:pt x="2647750" y="0"/>
                </a:lnTo>
                <a:lnTo>
                  <a:pt x="2647750" y="2647751"/>
                </a:lnTo>
                <a:lnTo>
                  <a:pt x="0" y="26477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406958" y="312728"/>
            <a:ext cx="1881042" cy="1881042"/>
          </a:xfrm>
          <a:custGeom>
            <a:avLst/>
            <a:gdLst/>
            <a:ahLst/>
            <a:cxnLst/>
            <a:rect r="r" b="b" t="t" l="l"/>
            <a:pathLst>
              <a:path h="1881042" w="1881042">
                <a:moveTo>
                  <a:pt x="0" y="0"/>
                </a:moveTo>
                <a:lnTo>
                  <a:pt x="1881042" y="0"/>
                </a:lnTo>
                <a:lnTo>
                  <a:pt x="1881042" y="1881042"/>
                </a:lnTo>
                <a:lnTo>
                  <a:pt x="0" y="1881042"/>
                </a:lnTo>
                <a:lnTo>
                  <a:pt x="0" y="0"/>
                </a:lnTo>
                <a:close/>
              </a:path>
            </a:pathLst>
          </a:custGeom>
          <a:blipFill>
            <a:blip r:embed="rId4"/>
            <a:stretch>
              <a:fillRect l="0" t="0" r="0" b="0"/>
            </a:stretch>
          </a:blipFill>
        </p:spPr>
      </p:sp>
      <p:sp>
        <p:nvSpPr>
          <p:cNvPr name="Freeform 8" id="8"/>
          <p:cNvSpPr/>
          <p:nvPr/>
        </p:nvSpPr>
        <p:spPr>
          <a:xfrm flipH="false" flipV="false" rot="0">
            <a:off x="16406958" y="2368073"/>
            <a:ext cx="1881042" cy="1881042"/>
          </a:xfrm>
          <a:custGeom>
            <a:avLst/>
            <a:gdLst/>
            <a:ahLst/>
            <a:cxnLst/>
            <a:rect r="r" b="b" t="t" l="l"/>
            <a:pathLst>
              <a:path h="1881042" w="1881042">
                <a:moveTo>
                  <a:pt x="0" y="0"/>
                </a:moveTo>
                <a:lnTo>
                  <a:pt x="1881042" y="0"/>
                </a:lnTo>
                <a:lnTo>
                  <a:pt x="1881042" y="1881042"/>
                </a:lnTo>
                <a:lnTo>
                  <a:pt x="0" y="1881042"/>
                </a:lnTo>
                <a:lnTo>
                  <a:pt x="0" y="0"/>
                </a:lnTo>
                <a:close/>
              </a:path>
            </a:pathLst>
          </a:custGeom>
          <a:blipFill>
            <a:blip r:embed="rId5"/>
            <a:stretch>
              <a:fillRect l="0" t="0" r="0" b="0"/>
            </a:stretch>
          </a:blipFill>
        </p:spPr>
      </p:sp>
      <p:sp>
        <p:nvSpPr>
          <p:cNvPr name="TextBox 9" id="9"/>
          <p:cNvSpPr txBox="true"/>
          <p:nvPr/>
        </p:nvSpPr>
        <p:spPr>
          <a:xfrm rot="0">
            <a:off x="1028700" y="1038225"/>
            <a:ext cx="14029209" cy="4277448"/>
          </a:xfrm>
          <a:prstGeom prst="rect">
            <a:avLst/>
          </a:prstGeom>
        </p:spPr>
        <p:txBody>
          <a:bodyPr anchor="t" rtlCol="false" tIns="0" lIns="0" bIns="0" rIns="0">
            <a:spAutoFit/>
          </a:bodyPr>
          <a:lstStyle/>
          <a:p>
            <a:pPr algn="l">
              <a:lnSpc>
                <a:spcPts val="11275"/>
              </a:lnSpc>
            </a:pPr>
            <a:r>
              <a:rPr lang="en-US" sz="9395" b="true">
                <a:solidFill>
                  <a:srgbClr val="56AEFF"/>
                </a:solidFill>
                <a:latin typeface="Now Bold"/>
                <a:ea typeface="Now Bold"/>
                <a:cs typeface="Now Bold"/>
                <a:sym typeface="Now Bold"/>
              </a:rPr>
              <a:t>AI</a:t>
            </a:r>
            <a:r>
              <a:rPr lang="en-US" sz="9395" b="true">
                <a:solidFill>
                  <a:srgbClr val="FFFBFB"/>
                </a:solidFill>
                <a:latin typeface="Now Bold"/>
                <a:ea typeface="Now Bold"/>
                <a:cs typeface="Now Bold"/>
                <a:sym typeface="Now Bold"/>
              </a:rPr>
              <a:t>-DRIVEN JOB </a:t>
            </a:r>
            <a:r>
              <a:rPr lang="en-US" sz="9395" b="true">
                <a:solidFill>
                  <a:srgbClr val="56AEFF"/>
                </a:solidFill>
                <a:latin typeface="Now Bold"/>
                <a:ea typeface="Now Bold"/>
                <a:cs typeface="Now Bold"/>
                <a:sym typeface="Now Bold"/>
              </a:rPr>
              <a:t>INTERVIEW</a:t>
            </a:r>
            <a:r>
              <a:rPr lang="en-US" sz="9395" b="true">
                <a:solidFill>
                  <a:srgbClr val="FFFBFB"/>
                </a:solidFill>
                <a:latin typeface="Now Bold"/>
                <a:ea typeface="Now Bold"/>
                <a:cs typeface="Now Bold"/>
                <a:sym typeface="Now Bold"/>
              </a:rPr>
              <a:t> ANALYZER</a:t>
            </a:r>
          </a:p>
          <a:p>
            <a:pPr algn="l">
              <a:lnSpc>
                <a:spcPts val="11275"/>
              </a:lnSpc>
            </a:pPr>
          </a:p>
        </p:txBody>
      </p:sp>
      <p:sp>
        <p:nvSpPr>
          <p:cNvPr name="TextBox 10" id="10"/>
          <p:cNvSpPr txBox="true"/>
          <p:nvPr/>
        </p:nvSpPr>
        <p:spPr>
          <a:xfrm rot="0">
            <a:off x="1028700" y="3800488"/>
            <a:ext cx="10896957" cy="811530"/>
          </a:xfrm>
          <a:prstGeom prst="rect">
            <a:avLst/>
          </a:prstGeom>
        </p:spPr>
        <p:txBody>
          <a:bodyPr anchor="t" rtlCol="false" tIns="0" lIns="0" bIns="0" rIns="0">
            <a:spAutoFit/>
          </a:bodyPr>
          <a:lstStyle/>
          <a:p>
            <a:pPr algn="ctr">
              <a:lnSpc>
                <a:spcPts val="6720"/>
              </a:lnSpc>
            </a:pPr>
            <a:r>
              <a:rPr lang="en-US" sz="4800" b="true">
                <a:solidFill>
                  <a:srgbClr val="FFFFFF"/>
                </a:solidFill>
                <a:latin typeface="Canva Sans Bold"/>
                <a:ea typeface="Canva Sans Bold"/>
                <a:cs typeface="Canva Sans Bold"/>
                <a:sym typeface="Canva Sans Bold"/>
              </a:rPr>
              <a:t>Short Title: Interview Den (S25-47-D)</a:t>
            </a:r>
          </a:p>
        </p:txBody>
      </p:sp>
      <p:sp>
        <p:nvSpPr>
          <p:cNvPr name="TextBox 11" id="11"/>
          <p:cNvSpPr txBox="true"/>
          <p:nvPr/>
        </p:nvSpPr>
        <p:spPr>
          <a:xfrm rot="0">
            <a:off x="1028700" y="6877685"/>
            <a:ext cx="6761917" cy="2380615"/>
          </a:xfrm>
          <a:prstGeom prst="rect">
            <a:avLst/>
          </a:prstGeom>
        </p:spPr>
        <p:txBody>
          <a:bodyPr anchor="t" rtlCol="false" tIns="0" lIns="0" bIns="0" rIns="0">
            <a:spAutoFit/>
          </a:bodyPr>
          <a:lstStyle/>
          <a:p>
            <a:pPr algn="r">
              <a:lnSpc>
                <a:spcPts val="4759"/>
              </a:lnSpc>
            </a:pPr>
            <a:r>
              <a:rPr lang="en-US" sz="3399">
                <a:solidFill>
                  <a:srgbClr val="FFFFFF"/>
                </a:solidFill>
                <a:latin typeface="Canva Sans"/>
                <a:ea typeface="Canva Sans"/>
                <a:cs typeface="Canva Sans"/>
                <a:sym typeface="Canva Sans"/>
              </a:rPr>
              <a:t>Team:       Hamza Saeed  21i-0671</a:t>
            </a:r>
          </a:p>
          <a:p>
            <a:pPr algn="r">
              <a:lnSpc>
                <a:spcPts val="4759"/>
              </a:lnSpc>
            </a:pPr>
            <a:r>
              <a:rPr lang="en-US" sz="3399">
                <a:solidFill>
                  <a:srgbClr val="FFFFFF"/>
                </a:solidFill>
                <a:latin typeface="Canva Sans"/>
                <a:ea typeface="Canva Sans"/>
                <a:cs typeface="Canva Sans"/>
                <a:sym typeface="Canva Sans"/>
              </a:rPr>
              <a:t> Waleed Saeed  21i-1672</a:t>
            </a:r>
          </a:p>
          <a:p>
            <a:pPr algn="r">
              <a:lnSpc>
                <a:spcPts val="4759"/>
              </a:lnSpc>
            </a:pPr>
            <a:r>
              <a:rPr lang="en-US" sz="3399">
                <a:solidFill>
                  <a:srgbClr val="FFFFFF"/>
                </a:solidFill>
                <a:latin typeface="Canva Sans"/>
                <a:ea typeface="Canva Sans"/>
                <a:cs typeface="Canva Sans"/>
                <a:sym typeface="Canva Sans"/>
              </a:rPr>
              <a:t> Asad Ullah Shah 21i-0545</a:t>
            </a:r>
          </a:p>
          <a:p>
            <a:pPr algn="ctr">
              <a:lnSpc>
                <a:spcPts val="4759"/>
              </a:lnSpc>
            </a:pPr>
          </a:p>
        </p:txBody>
      </p:sp>
      <p:sp>
        <p:nvSpPr>
          <p:cNvPr name="TextBox 12" id="12"/>
          <p:cNvSpPr txBox="true"/>
          <p:nvPr/>
        </p:nvSpPr>
        <p:spPr>
          <a:xfrm rot="0">
            <a:off x="9427503" y="6877685"/>
            <a:ext cx="6210658" cy="1180465"/>
          </a:xfrm>
          <a:prstGeom prst="rect">
            <a:avLst/>
          </a:prstGeom>
        </p:spPr>
        <p:txBody>
          <a:bodyPr anchor="t" rtlCol="false" tIns="0" lIns="0" bIns="0" rIns="0">
            <a:spAutoFit/>
          </a:bodyPr>
          <a:lstStyle/>
          <a:p>
            <a:pPr algn="r">
              <a:lnSpc>
                <a:spcPts val="4759"/>
              </a:lnSpc>
            </a:pPr>
            <a:r>
              <a:rPr lang="en-US" sz="3399">
                <a:solidFill>
                  <a:srgbClr val="FFFFFF"/>
                </a:solidFill>
                <a:latin typeface="Canva Sans"/>
                <a:ea typeface="Canva Sans"/>
                <a:cs typeface="Canva Sans"/>
                <a:sym typeface="Canva Sans"/>
              </a:rPr>
              <a:t>Supervisor: Dr. Mehreen Alam</a:t>
            </a:r>
          </a:p>
          <a:p>
            <a:pPr algn="r">
              <a:lnSpc>
                <a:spcPts val="4759"/>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0">
            <a:off x="4753177" y="1713167"/>
            <a:ext cx="12506123" cy="6316036"/>
            <a:chOff x="0" y="0"/>
            <a:chExt cx="16674830" cy="8421381"/>
          </a:xfrm>
        </p:grpSpPr>
        <p:sp>
          <p:nvSpPr>
            <p:cNvPr name="Freeform 3" id="3"/>
            <p:cNvSpPr/>
            <p:nvPr/>
          </p:nvSpPr>
          <p:spPr>
            <a:xfrm flipH="false" flipV="false" rot="0">
              <a:off x="4597543" y="180621"/>
              <a:ext cx="12077287" cy="8057815"/>
            </a:xfrm>
            <a:custGeom>
              <a:avLst/>
              <a:gdLst/>
              <a:ahLst/>
              <a:cxnLst/>
              <a:rect r="r" b="b" t="t" l="l"/>
              <a:pathLst>
                <a:path h="8057815" w="12077287">
                  <a:moveTo>
                    <a:pt x="0" y="0"/>
                  </a:moveTo>
                  <a:lnTo>
                    <a:pt x="12077287" y="0"/>
                  </a:lnTo>
                  <a:lnTo>
                    <a:pt x="12077287" y="8057815"/>
                  </a:lnTo>
                  <a:lnTo>
                    <a:pt x="0" y="8057815"/>
                  </a:lnTo>
                  <a:lnTo>
                    <a:pt x="0" y="0"/>
                  </a:lnTo>
                  <a:close/>
                </a:path>
              </a:pathLst>
            </a:custGeom>
            <a:blipFill>
              <a:blip r:embed="rId2"/>
              <a:stretch>
                <a:fillRect l="0" t="0" r="0" b="0"/>
              </a:stretch>
            </a:blipFill>
          </p:spPr>
        </p:sp>
        <p:grpSp>
          <p:nvGrpSpPr>
            <p:cNvPr name="Group 4" id="4"/>
            <p:cNvGrpSpPr/>
            <p:nvPr/>
          </p:nvGrpSpPr>
          <p:grpSpPr>
            <a:xfrm rot="-10800000">
              <a:off x="0" y="0"/>
              <a:ext cx="9624435" cy="8421381"/>
              <a:chOff x="0" y="0"/>
              <a:chExt cx="812800" cy="711200"/>
            </a:xfrm>
          </p:grpSpPr>
          <p:sp>
            <p:nvSpPr>
              <p:cNvPr name="Freeform 5" id="5"/>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051D40"/>
              </a:solidFill>
            </p:spPr>
          </p:sp>
          <p:sp>
            <p:nvSpPr>
              <p:cNvPr name="TextBox 6" id="6"/>
              <p:cNvSpPr txBox="true"/>
              <p:nvPr/>
            </p:nvSpPr>
            <p:spPr>
              <a:xfrm>
                <a:off x="127000" y="22225"/>
                <a:ext cx="558800" cy="358775"/>
              </a:xfrm>
              <a:prstGeom prst="rect">
                <a:avLst/>
              </a:prstGeom>
            </p:spPr>
            <p:txBody>
              <a:bodyPr anchor="ctr" rtlCol="false" tIns="55048" lIns="55048" bIns="55048" rIns="55048"/>
              <a:lstStyle/>
              <a:p>
                <a:pPr algn="ctr">
                  <a:lnSpc>
                    <a:spcPts val="2590"/>
                  </a:lnSpc>
                </a:pPr>
              </a:p>
            </p:txBody>
          </p:sp>
        </p:grpSp>
      </p:grpSp>
      <p:sp>
        <p:nvSpPr>
          <p:cNvPr name="TextBox 7" id="7"/>
          <p:cNvSpPr txBox="true"/>
          <p:nvPr/>
        </p:nvSpPr>
        <p:spPr>
          <a:xfrm rot="0">
            <a:off x="1028700" y="2488302"/>
            <a:ext cx="11371407" cy="4757895"/>
          </a:xfrm>
          <a:prstGeom prst="rect">
            <a:avLst/>
          </a:prstGeom>
        </p:spPr>
        <p:txBody>
          <a:bodyPr anchor="t" rtlCol="false" tIns="0" lIns="0" bIns="0" rIns="0">
            <a:spAutoFit/>
          </a:bodyPr>
          <a:lstStyle/>
          <a:p>
            <a:pPr algn="l">
              <a:lnSpc>
                <a:spcPts val="19170"/>
              </a:lnSpc>
            </a:pPr>
            <a:r>
              <a:rPr lang="en-US" sz="13693" b="true">
                <a:solidFill>
                  <a:srgbClr val="FFFFFF"/>
                </a:solidFill>
                <a:latin typeface="Canva Sans Bold"/>
                <a:ea typeface="Canva Sans Bold"/>
                <a:cs typeface="Canva Sans Bold"/>
                <a:sym typeface="Canva Sans Bold"/>
              </a:rPr>
              <a:t>Project Overview</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4059971" y="1342302"/>
            <a:ext cx="10168057" cy="1749425"/>
          </a:xfrm>
          <a:prstGeom prst="rect">
            <a:avLst/>
          </a:prstGeom>
        </p:spPr>
        <p:txBody>
          <a:bodyPr anchor="t" rtlCol="false" tIns="0" lIns="0" bIns="0" rIns="0">
            <a:spAutoFit/>
          </a:bodyPr>
          <a:lstStyle/>
          <a:p>
            <a:pPr algn="l">
              <a:lnSpc>
                <a:spcPts val="7000"/>
              </a:lnSpc>
            </a:pPr>
            <a:r>
              <a:rPr lang="en-US" sz="5000" b="true">
                <a:solidFill>
                  <a:srgbClr val="FFFFFF"/>
                </a:solidFill>
                <a:latin typeface="Canva Sans Bold"/>
                <a:ea typeface="Canva Sans Bold"/>
                <a:cs typeface="Canva Sans Bold"/>
                <a:sym typeface="Canva Sans Bold"/>
              </a:rPr>
              <a:t>Type of Project: </a:t>
            </a:r>
            <a:r>
              <a:rPr lang="en-US" sz="5000">
                <a:solidFill>
                  <a:srgbClr val="FFFFFF"/>
                </a:solidFill>
                <a:latin typeface="Canva Sans"/>
                <a:ea typeface="Canva Sans"/>
                <a:cs typeface="Canva Sans"/>
                <a:sym typeface="Canva Sans"/>
              </a:rPr>
              <a:t>Development</a:t>
            </a:r>
          </a:p>
          <a:p>
            <a:pPr algn="l">
              <a:lnSpc>
                <a:spcPts val="7000"/>
              </a:lnSpc>
            </a:pPr>
            <a:r>
              <a:rPr lang="en-US" sz="5000" b="true">
                <a:solidFill>
                  <a:srgbClr val="FFFFFF"/>
                </a:solidFill>
                <a:latin typeface="Canva Sans Bold"/>
                <a:ea typeface="Canva Sans Bold"/>
                <a:cs typeface="Canva Sans Bold"/>
                <a:sym typeface="Canva Sans Bold"/>
              </a:rPr>
              <a:t>Company Name: </a:t>
            </a:r>
            <a:r>
              <a:rPr lang="en-US" sz="5000">
                <a:solidFill>
                  <a:srgbClr val="FFFFFF"/>
                </a:solidFill>
                <a:latin typeface="Canva Sans"/>
                <a:ea typeface="Canva Sans"/>
                <a:cs typeface="Canva Sans"/>
                <a:sym typeface="Canva Sans"/>
              </a:rPr>
              <a:t>Developers Den</a:t>
            </a:r>
          </a:p>
        </p:txBody>
      </p:sp>
      <p:sp>
        <p:nvSpPr>
          <p:cNvPr name="TextBox 3" id="3"/>
          <p:cNvSpPr txBox="true"/>
          <p:nvPr/>
        </p:nvSpPr>
        <p:spPr>
          <a:xfrm rot="0">
            <a:off x="2780977" y="3559944"/>
            <a:ext cx="4406384"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Project Focus:</a:t>
            </a:r>
          </a:p>
        </p:txBody>
      </p:sp>
      <p:sp>
        <p:nvSpPr>
          <p:cNvPr name="TextBox 4" id="4"/>
          <p:cNvSpPr txBox="true"/>
          <p:nvPr/>
        </p:nvSpPr>
        <p:spPr>
          <a:xfrm rot="0">
            <a:off x="2780977" y="4683058"/>
            <a:ext cx="12726046" cy="4180840"/>
          </a:xfrm>
          <a:prstGeom prst="rect">
            <a:avLst/>
          </a:prstGeom>
        </p:spPr>
        <p:txBody>
          <a:bodyPr anchor="t" rtlCol="false" tIns="0" lIns="0" bIns="0" rIns="0">
            <a:spAutoFit/>
          </a:bodyPr>
          <a:lstStyle/>
          <a:p>
            <a:pPr algn="just">
              <a:lnSpc>
                <a:spcPts val="4759"/>
              </a:lnSpc>
            </a:pPr>
            <a:r>
              <a:rPr lang="en-US" sz="3399">
                <a:solidFill>
                  <a:srgbClr val="FFFFFF"/>
                </a:solidFill>
                <a:latin typeface="Canva Sans"/>
                <a:ea typeface="Canva Sans"/>
                <a:cs typeface="Canva Sans"/>
                <a:sym typeface="Canva Sans"/>
              </a:rPr>
              <a:t>The AI-Driven Job Interview Analyzer aims to automate and optimize the hiring process by leveraging AI for resume screening, skill assessments, and AI-conducted interviews. It provides an efficient, unbiased, and transparent evaluation system for both companies and candidates, reducing hiring time and improving decision-making.</a:t>
            </a:r>
          </a:p>
          <a:p>
            <a:pPr algn="just">
              <a:lnSpc>
                <a:spcPts val="475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9139238" y="4819967"/>
            <a:ext cx="9525" cy="580390"/>
          </a:xfrm>
          <a:prstGeom prst="rect">
            <a:avLst/>
          </a:prstGeom>
        </p:spPr>
        <p:txBody>
          <a:bodyPr anchor="t" rtlCol="false" tIns="0" lIns="0" bIns="0" rIns="0">
            <a:spAutoFit/>
          </a:bodyPr>
          <a:lstStyle/>
          <a:p>
            <a:pPr algn="ctr">
              <a:lnSpc>
                <a:spcPts val="4759"/>
              </a:lnSpc>
              <a:spcBef>
                <a:spcPct val="0"/>
              </a:spcBef>
            </a:pPr>
          </a:p>
        </p:txBody>
      </p:sp>
      <p:sp>
        <p:nvSpPr>
          <p:cNvPr name="TextBox 3" id="3"/>
          <p:cNvSpPr txBox="true"/>
          <p:nvPr/>
        </p:nvSpPr>
        <p:spPr>
          <a:xfrm rot="0">
            <a:off x="0" y="3344013"/>
            <a:ext cx="9139238" cy="3418000"/>
          </a:xfrm>
          <a:prstGeom prst="rect">
            <a:avLst/>
          </a:prstGeom>
        </p:spPr>
        <p:txBody>
          <a:bodyPr anchor="t" rtlCol="false" tIns="0" lIns="0" bIns="0" rIns="0">
            <a:spAutoFit/>
          </a:bodyPr>
          <a:lstStyle/>
          <a:p>
            <a:pPr algn="ctr">
              <a:lnSpc>
                <a:spcPts val="13777"/>
              </a:lnSpc>
            </a:pPr>
            <a:r>
              <a:rPr lang="en-US" sz="9841" b="true">
                <a:solidFill>
                  <a:srgbClr val="FFFFFF"/>
                </a:solidFill>
                <a:latin typeface="Canva Sans Bold"/>
                <a:ea typeface="Canva Sans Bold"/>
                <a:cs typeface="Canva Sans Bold"/>
                <a:sym typeface="Canva Sans Bold"/>
              </a:rPr>
              <a:t>Problem Statement</a:t>
            </a:r>
          </a:p>
        </p:txBody>
      </p:sp>
      <p:sp>
        <p:nvSpPr>
          <p:cNvPr name="AutoShape 4" id="4"/>
          <p:cNvSpPr/>
          <p:nvPr/>
        </p:nvSpPr>
        <p:spPr>
          <a:xfrm>
            <a:off x="9144000" y="1028700"/>
            <a:ext cx="0" cy="8229600"/>
          </a:xfrm>
          <a:prstGeom prst="line">
            <a:avLst/>
          </a:prstGeom>
          <a:ln cap="flat" w="57150">
            <a:solidFill>
              <a:srgbClr val="FFFFFF"/>
            </a:solidFill>
            <a:prstDash val="solid"/>
            <a:headEnd type="none" len="sm" w="sm"/>
            <a:tailEnd type="none" len="sm" w="sm"/>
          </a:ln>
        </p:spPr>
      </p:sp>
      <p:sp>
        <p:nvSpPr>
          <p:cNvPr name="TextBox 5" id="5"/>
          <p:cNvSpPr txBox="true"/>
          <p:nvPr/>
        </p:nvSpPr>
        <p:spPr>
          <a:xfrm rot="0">
            <a:off x="9972155" y="1219517"/>
            <a:ext cx="7287145" cy="7781290"/>
          </a:xfrm>
          <a:prstGeom prst="rect">
            <a:avLst/>
          </a:prstGeom>
        </p:spPr>
        <p:txBody>
          <a:bodyPr anchor="t" rtlCol="false" tIns="0" lIns="0" bIns="0" rIns="0">
            <a:spAutoFit/>
          </a:bodyPr>
          <a:lstStyle/>
          <a:p>
            <a:pPr algn="just">
              <a:lnSpc>
                <a:spcPts val="4759"/>
              </a:lnSpc>
            </a:pPr>
          </a:p>
          <a:p>
            <a:pPr algn="just">
              <a:lnSpc>
                <a:spcPts val="4759"/>
              </a:lnSpc>
            </a:pPr>
            <a:r>
              <a:rPr lang="en-US" sz="3399">
                <a:solidFill>
                  <a:srgbClr val="FFFFFF"/>
                </a:solidFill>
                <a:latin typeface="Canva Sans"/>
                <a:ea typeface="Canva Sans"/>
                <a:cs typeface="Canva Sans"/>
                <a:sym typeface="Canva Sans"/>
              </a:rPr>
              <a:t>Hiring is slow, biased, and inefficient, with manual resume screening and lengthy interviews delaying talent acquisition. Candidates also face uncertainty due to a lack of timely feedback. An AI-driven solution is needed to automate screening, assessments, and interviews, ensuring a faster, fairer, and more effective hiring process.</a:t>
            </a:r>
          </a:p>
          <a:p>
            <a:pPr algn="just">
              <a:lnSpc>
                <a:spcPts val="475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9139238" y="4819967"/>
            <a:ext cx="9525" cy="580390"/>
          </a:xfrm>
          <a:prstGeom prst="rect">
            <a:avLst/>
          </a:prstGeom>
        </p:spPr>
        <p:txBody>
          <a:bodyPr anchor="t" rtlCol="false" tIns="0" lIns="0" bIns="0" rIns="0">
            <a:spAutoFit/>
          </a:bodyPr>
          <a:lstStyle/>
          <a:p>
            <a:pPr algn="ctr">
              <a:lnSpc>
                <a:spcPts val="4759"/>
              </a:lnSpc>
              <a:spcBef>
                <a:spcPct val="0"/>
              </a:spcBef>
            </a:pPr>
          </a:p>
        </p:txBody>
      </p:sp>
      <p:sp>
        <p:nvSpPr>
          <p:cNvPr name="TextBox 3" id="3"/>
          <p:cNvSpPr txBox="true"/>
          <p:nvPr/>
        </p:nvSpPr>
        <p:spPr>
          <a:xfrm rot="0">
            <a:off x="0" y="3958902"/>
            <a:ext cx="9139238" cy="1674506"/>
          </a:xfrm>
          <a:prstGeom prst="rect">
            <a:avLst/>
          </a:prstGeom>
        </p:spPr>
        <p:txBody>
          <a:bodyPr anchor="t" rtlCol="false" tIns="0" lIns="0" bIns="0" rIns="0">
            <a:spAutoFit/>
          </a:bodyPr>
          <a:lstStyle/>
          <a:p>
            <a:pPr algn="ctr">
              <a:lnSpc>
                <a:spcPts val="13777"/>
              </a:lnSpc>
            </a:pPr>
            <a:r>
              <a:rPr lang="en-US" sz="9841" b="true">
                <a:solidFill>
                  <a:srgbClr val="FFFFFF"/>
                </a:solidFill>
                <a:latin typeface="Canva Sans Bold"/>
                <a:ea typeface="Canva Sans Bold"/>
                <a:cs typeface="Canva Sans Bold"/>
                <a:sym typeface="Canva Sans Bold"/>
              </a:rPr>
              <a:t>Motivation</a:t>
            </a:r>
          </a:p>
        </p:txBody>
      </p:sp>
      <p:sp>
        <p:nvSpPr>
          <p:cNvPr name="AutoShape 4" id="4"/>
          <p:cNvSpPr/>
          <p:nvPr/>
        </p:nvSpPr>
        <p:spPr>
          <a:xfrm>
            <a:off x="9144000" y="1028700"/>
            <a:ext cx="0" cy="8229600"/>
          </a:xfrm>
          <a:prstGeom prst="line">
            <a:avLst/>
          </a:prstGeom>
          <a:ln cap="flat" w="57150">
            <a:solidFill>
              <a:srgbClr val="FFFFFF"/>
            </a:solidFill>
            <a:prstDash val="solid"/>
            <a:headEnd type="none" len="sm" w="sm"/>
            <a:tailEnd type="none" len="sm" w="sm"/>
          </a:ln>
        </p:spPr>
      </p:sp>
      <p:sp>
        <p:nvSpPr>
          <p:cNvPr name="TextBox 5" id="5"/>
          <p:cNvSpPr txBox="true"/>
          <p:nvPr/>
        </p:nvSpPr>
        <p:spPr>
          <a:xfrm rot="0">
            <a:off x="9972155" y="1262697"/>
            <a:ext cx="7287145" cy="7181215"/>
          </a:xfrm>
          <a:prstGeom prst="rect">
            <a:avLst/>
          </a:prstGeom>
        </p:spPr>
        <p:txBody>
          <a:bodyPr anchor="t" rtlCol="false" tIns="0" lIns="0" bIns="0" rIns="0">
            <a:spAutoFit/>
          </a:bodyPr>
          <a:lstStyle/>
          <a:p>
            <a:pPr algn="just">
              <a:lnSpc>
                <a:spcPts val="4759"/>
              </a:lnSpc>
            </a:pPr>
          </a:p>
          <a:p>
            <a:pPr algn="just">
              <a:lnSpc>
                <a:spcPts val="4759"/>
              </a:lnSpc>
              <a:spcBef>
                <a:spcPct val="0"/>
              </a:spcBef>
            </a:pPr>
            <a:r>
              <a:rPr lang="en-US" sz="3399">
                <a:solidFill>
                  <a:srgbClr val="FFFFFF"/>
                </a:solidFill>
                <a:latin typeface="Canva Sans"/>
                <a:ea typeface="Canva Sans"/>
                <a:cs typeface="Canva Sans"/>
                <a:sym typeface="Canva Sans"/>
              </a:rPr>
              <a:t>Hiring the right talent is time-consuming and often inefficient, with recruiters overwhelmed by resumes and candidates facing uncertainty. We believe hiring should be faster, fairer, and smarter. By leveraging AI, this project aims to reduce bias, speed up hiring, and provide a transparent experience for both employers and job seekers.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0">
            <a:off x="8307084" y="1835864"/>
            <a:ext cx="8804554" cy="6615271"/>
          </a:xfrm>
          <a:custGeom>
            <a:avLst/>
            <a:gdLst/>
            <a:ahLst/>
            <a:cxnLst/>
            <a:rect r="r" b="b" t="t" l="l"/>
            <a:pathLst>
              <a:path h="6615271" w="8804554">
                <a:moveTo>
                  <a:pt x="0" y="0"/>
                </a:moveTo>
                <a:lnTo>
                  <a:pt x="8804554" y="0"/>
                </a:lnTo>
                <a:lnTo>
                  <a:pt x="8804554" y="6615272"/>
                </a:lnTo>
                <a:lnTo>
                  <a:pt x="0" y="6615272"/>
                </a:lnTo>
                <a:lnTo>
                  <a:pt x="0" y="0"/>
                </a:lnTo>
                <a:close/>
              </a:path>
            </a:pathLst>
          </a:custGeom>
          <a:blipFill>
            <a:blip r:embed="rId2"/>
            <a:stretch>
              <a:fillRect l="0" t="0" r="-17651" b="0"/>
            </a:stretch>
          </a:blipFill>
        </p:spPr>
      </p:sp>
      <p:grpSp>
        <p:nvGrpSpPr>
          <p:cNvPr name="Group 3" id="3"/>
          <p:cNvGrpSpPr/>
          <p:nvPr/>
        </p:nvGrpSpPr>
        <p:grpSpPr>
          <a:xfrm rot="10092263">
            <a:off x="3149152" y="1439497"/>
            <a:ext cx="9447969" cy="8266973"/>
            <a:chOff x="0" y="0"/>
            <a:chExt cx="812800" cy="711200"/>
          </a:xfrm>
        </p:grpSpPr>
        <p:sp>
          <p:nvSpPr>
            <p:cNvPr name="Freeform 4" id="4"/>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51D40"/>
            </a:solidFill>
          </p:spPr>
        </p:sp>
        <p:sp>
          <p:nvSpPr>
            <p:cNvPr name="TextBox 5" id="5"/>
            <p:cNvSpPr txBox="true"/>
            <p:nvPr/>
          </p:nvSpPr>
          <p:spPr>
            <a:xfrm>
              <a:off x="127000" y="301625"/>
              <a:ext cx="558800" cy="358775"/>
            </a:xfrm>
            <a:prstGeom prst="rect">
              <a:avLst/>
            </a:prstGeom>
          </p:spPr>
          <p:txBody>
            <a:bodyPr anchor="ctr" rtlCol="false" tIns="50800" lIns="50800" bIns="50800" rIns="50800"/>
            <a:lstStyle/>
            <a:p>
              <a:pPr algn="ctr">
                <a:lnSpc>
                  <a:spcPts val="2590"/>
                </a:lnSpc>
              </a:pPr>
            </a:p>
          </p:txBody>
        </p:sp>
      </p:grpSp>
      <p:sp>
        <p:nvSpPr>
          <p:cNvPr name="TextBox 6" id="6"/>
          <p:cNvSpPr txBox="true"/>
          <p:nvPr/>
        </p:nvSpPr>
        <p:spPr>
          <a:xfrm rot="0">
            <a:off x="1028700" y="2483229"/>
            <a:ext cx="8892176" cy="5044316"/>
          </a:xfrm>
          <a:prstGeom prst="rect">
            <a:avLst/>
          </a:prstGeom>
        </p:spPr>
        <p:txBody>
          <a:bodyPr anchor="t" rtlCol="false" tIns="0" lIns="0" bIns="0" rIns="0">
            <a:spAutoFit/>
          </a:bodyPr>
          <a:lstStyle/>
          <a:p>
            <a:pPr algn="l">
              <a:lnSpc>
                <a:spcPts val="20309"/>
              </a:lnSpc>
            </a:pPr>
            <a:r>
              <a:rPr lang="en-US" sz="14506" b="true">
                <a:solidFill>
                  <a:srgbClr val="FFFFFF"/>
                </a:solidFill>
                <a:latin typeface="Canva Sans Bold"/>
                <a:ea typeface="Canva Sans Bold"/>
                <a:cs typeface="Canva Sans Bold"/>
                <a:sym typeface="Canva Sans Bold"/>
              </a:rPr>
              <a:t>Project Scope</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1882697" y="1819592"/>
            <a:ext cx="14522607" cy="6581140"/>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1. AI Resume Screening</a:t>
            </a:r>
          </a:p>
          <a:p>
            <a:pPr algn="l">
              <a:lnSpc>
                <a:spcPts val="4759"/>
              </a:lnSpc>
              <a:spcBef>
                <a:spcPct val="0"/>
              </a:spcBef>
            </a:pPr>
            <a:r>
              <a:rPr lang="en-US" sz="3399">
                <a:solidFill>
                  <a:srgbClr val="FFFFFF"/>
                </a:solidFill>
                <a:latin typeface="Canva Sans"/>
                <a:ea typeface="Canva Sans"/>
                <a:cs typeface="Canva Sans"/>
                <a:sym typeface="Canva Sans"/>
              </a:rPr>
              <a:t>Objective: Aut</a:t>
            </a:r>
            <a:r>
              <a:rPr lang="en-US" sz="3399">
                <a:solidFill>
                  <a:srgbClr val="FFFFFF"/>
                </a:solidFill>
                <a:latin typeface="Canva Sans"/>
                <a:ea typeface="Canva Sans"/>
                <a:cs typeface="Canva Sans"/>
                <a:sym typeface="Canva Sans"/>
              </a:rPr>
              <a:t>omate resume evaluation for efficient job matching.</a:t>
            </a:r>
          </a:p>
          <a:p>
            <a:pPr algn="l" marL="734059" indent="-367030" lvl="1">
              <a:lnSpc>
                <a:spcPts val="4759"/>
              </a:lnSpc>
              <a:spcBef>
                <a:spcPct val="0"/>
              </a:spcBef>
              <a:buFont typeface="Arial"/>
              <a:buChar char="•"/>
            </a:pPr>
            <a:r>
              <a:rPr lang="en-US" sz="3399">
                <a:solidFill>
                  <a:srgbClr val="FFFFFF"/>
                </a:solidFill>
                <a:latin typeface="Canva Sans"/>
                <a:ea typeface="Canva Sans"/>
                <a:cs typeface="Canva Sans"/>
                <a:sym typeface="Canva Sans"/>
              </a:rPr>
              <a:t>Implementation Options:</a:t>
            </a:r>
          </a:p>
          <a:p>
            <a:pPr algn="l" marL="1468119" indent="-489373" lvl="2">
              <a:lnSpc>
                <a:spcPts val="4759"/>
              </a:lnSpc>
              <a:spcBef>
                <a:spcPct val="0"/>
              </a:spcBef>
              <a:buFont typeface="Arial"/>
              <a:buChar char="⚬"/>
            </a:pPr>
            <a:r>
              <a:rPr lang="en-US" sz="3399">
                <a:solidFill>
                  <a:srgbClr val="FFFFFF"/>
                </a:solidFill>
                <a:latin typeface="Canva Sans"/>
                <a:ea typeface="Canva Sans"/>
                <a:cs typeface="Canva Sans"/>
                <a:sym typeface="Canva Sans"/>
              </a:rPr>
              <a:t>Standardized Parsing: Convert various CV formats into a structured template for analysis.</a:t>
            </a:r>
          </a:p>
          <a:p>
            <a:pPr algn="l" marL="1468119" indent="-489373" lvl="2">
              <a:lnSpc>
                <a:spcPts val="4759"/>
              </a:lnSpc>
              <a:spcBef>
                <a:spcPct val="0"/>
              </a:spcBef>
              <a:buFont typeface="Arial"/>
              <a:buChar char="⚬"/>
            </a:pPr>
            <a:r>
              <a:rPr lang="en-US" sz="3399">
                <a:solidFill>
                  <a:srgbClr val="FFFFFF"/>
                </a:solidFill>
                <a:latin typeface="Canva Sans"/>
                <a:ea typeface="Canva Sans"/>
                <a:cs typeface="Canva Sans"/>
                <a:sym typeface="Canva Sans"/>
              </a:rPr>
              <a:t>GPT-Based Parsing: Use LLMs to extract and assess key data points from resumes.</a:t>
            </a:r>
          </a:p>
          <a:p>
            <a:pPr algn="l" marL="734059" indent="-367030" lvl="1">
              <a:lnSpc>
                <a:spcPts val="4759"/>
              </a:lnSpc>
              <a:spcBef>
                <a:spcPct val="0"/>
              </a:spcBef>
              <a:buFont typeface="Arial"/>
              <a:buChar char="•"/>
            </a:pPr>
            <a:r>
              <a:rPr lang="en-US" sz="3399">
                <a:solidFill>
                  <a:srgbClr val="FFFFFF"/>
                </a:solidFill>
                <a:latin typeface="Canva Sans"/>
                <a:ea typeface="Canva Sans"/>
                <a:cs typeface="Canva Sans"/>
                <a:sym typeface="Canva Sans"/>
              </a:rPr>
              <a:t>Scoring &amp; Fraud Detection:</a:t>
            </a:r>
          </a:p>
          <a:p>
            <a:pPr algn="l" marL="1468119" indent="-489373" lvl="2">
              <a:lnSpc>
                <a:spcPts val="4759"/>
              </a:lnSpc>
              <a:spcBef>
                <a:spcPct val="0"/>
              </a:spcBef>
              <a:buFont typeface="Arial"/>
              <a:buChar char="⚬"/>
            </a:pPr>
            <a:r>
              <a:rPr lang="en-US" sz="3399">
                <a:solidFill>
                  <a:srgbClr val="FFFFFF"/>
                </a:solidFill>
                <a:latin typeface="Canva Sans"/>
                <a:ea typeface="Canva Sans"/>
                <a:cs typeface="Canva Sans"/>
                <a:sym typeface="Canva Sans"/>
              </a:rPr>
              <a:t>Assign a CV Score based on job requirement fulfillment.</a:t>
            </a:r>
          </a:p>
          <a:p>
            <a:pPr algn="l" marL="1468119" indent="-489373" lvl="2">
              <a:lnSpc>
                <a:spcPts val="4759"/>
              </a:lnSpc>
              <a:spcBef>
                <a:spcPct val="0"/>
              </a:spcBef>
              <a:buFont typeface="Arial"/>
              <a:buChar char="⚬"/>
            </a:pPr>
            <a:r>
              <a:rPr lang="en-US" sz="3399">
                <a:solidFill>
                  <a:srgbClr val="FFFFFF"/>
                </a:solidFill>
                <a:latin typeface="Canva Sans"/>
                <a:ea typeface="Canva Sans"/>
                <a:cs typeface="Canva Sans"/>
                <a:sym typeface="Canva Sans"/>
              </a:rPr>
              <a:t>Detect inconsistencies and potential fraud in resumes.</a:t>
            </a:r>
          </a:p>
          <a:p>
            <a:pPr algn="l">
              <a:lnSpc>
                <a:spcPts val="475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2150184" y="1519555"/>
            <a:ext cx="13987631" cy="7181215"/>
          </a:xfrm>
          <a:prstGeom prst="rect">
            <a:avLst/>
          </a:prstGeom>
        </p:spPr>
        <p:txBody>
          <a:bodyPr anchor="t" rtlCol="false" tIns="0" lIns="0" bIns="0" rIns="0">
            <a:spAutoFit/>
          </a:bodyPr>
          <a:lstStyle/>
          <a:p>
            <a:pPr algn="just">
              <a:lnSpc>
                <a:spcPts val="4759"/>
              </a:lnSpc>
              <a:spcBef>
                <a:spcPct val="0"/>
              </a:spcBef>
            </a:pPr>
            <a:r>
              <a:rPr lang="en-US" sz="3399">
                <a:solidFill>
                  <a:srgbClr val="FFFFFF"/>
                </a:solidFill>
                <a:latin typeface="Canva Sans"/>
                <a:ea typeface="Canva Sans"/>
                <a:cs typeface="Canva Sans"/>
                <a:sym typeface="Canva Sans"/>
              </a:rPr>
              <a:t>2. AI Test Creati</a:t>
            </a:r>
            <a:r>
              <a:rPr lang="en-US" sz="3399">
                <a:solidFill>
                  <a:srgbClr val="FFFFFF"/>
                </a:solidFill>
                <a:latin typeface="Canva Sans"/>
                <a:ea typeface="Canva Sans"/>
                <a:cs typeface="Canva Sans"/>
                <a:sym typeface="Canva Sans"/>
              </a:rPr>
              <a:t>on</a:t>
            </a:r>
          </a:p>
          <a:p>
            <a:pPr algn="just">
              <a:lnSpc>
                <a:spcPts val="4759"/>
              </a:lnSpc>
              <a:spcBef>
                <a:spcPct val="0"/>
              </a:spcBef>
            </a:pPr>
            <a:r>
              <a:rPr lang="en-US" sz="3399">
                <a:solidFill>
                  <a:srgbClr val="FFFFFF"/>
                </a:solidFill>
                <a:latin typeface="Canva Sans"/>
                <a:ea typeface="Canva Sans"/>
                <a:cs typeface="Canva Sans"/>
                <a:sym typeface="Canva Sans"/>
              </a:rPr>
              <a:t>Objective: Generate dynamic, AI-powered tests customized to job roles.</a:t>
            </a:r>
          </a:p>
          <a:p>
            <a:pPr algn="just" marL="734059" indent="-367030" lvl="1">
              <a:lnSpc>
                <a:spcPts val="4759"/>
              </a:lnSpc>
              <a:spcBef>
                <a:spcPct val="0"/>
              </a:spcBef>
              <a:buFont typeface="Arial"/>
              <a:buChar char="•"/>
            </a:pPr>
            <a:r>
              <a:rPr lang="en-US" sz="3399">
                <a:solidFill>
                  <a:srgbClr val="FFFFFF"/>
                </a:solidFill>
                <a:latin typeface="Canva Sans"/>
                <a:ea typeface="Canva Sans"/>
                <a:cs typeface="Canva Sans"/>
                <a:sym typeface="Canva Sans"/>
              </a:rPr>
              <a:t>Features:</a:t>
            </a:r>
          </a:p>
          <a:p>
            <a:pPr algn="just" marL="1468119" indent="-489373" lvl="2">
              <a:lnSpc>
                <a:spcPts val="4759"/>
              </a:lnSpc>
              <a:spcBef>
                <a:spcPct val="0"/>
              </a:spcBef>
              <a:buFont typeface="Arial"/>
              <a:buChar char="⚬"/>
            </a:pPr>
            <a:r>
              <a:rPr lang="en-US" sz="3399">
                <a:solidFill>
                  <a:srgbClr val="FFFFFF"/>
                </a:solidFill>
                <a:latin typeface="Canva Sans"/>
                <a:ea typeface="Canva Sans"/>
                <a:cs typeface="Canva Sans"/>
                <a:sym typeface="Canva Sans"/>
              </a:rPr>
              <a:t>AI-generated customized questions based on job descriptions.</a:t>
            </a:r>
          </a:p>
          <a:p>
            <a:pPr algn="just" marL="1468119" indent="-489373" lvl="2">
              <a:lnSpc>
                <a:spcPts val="4759"/>
              </a:lnSpc>
              <a:spcBef>
                <a:spcPct val="0"/>
              </a:spcBef>
              <a:buFont typeface="Arial"/>
              <a:buChar char="⚬"/>
            </a:pPr>
            <a:r>
              <a:rPr lang="en-US" sz="3399">
                <a:solidFill>
                  <a:srgbClr val="FFFFFF"/>
                </a:solidFill>
                <a:latin typeface="Canva Sans"/>
                <a:ea typeface="Canva Sans"/>
                <a:cs typeface="Canva Sans"/>
                <a:sym typeface="Canva Sans"/>
              </a:rPr>
              <a:t>Option for companies to add their own questions and set difficulty levels.</a:t>
            </a:r>
          </a:p>
          <a:p>
            <a:pPr algn="just" marL="734059" indent="-367030" lvl="1">
              <a:lnSpc>
                <a:spcPts val="4759"/>
              </a:lnSpc>
              <a:spcBef>
                <a:spcPct val="0"/>
              </a:spcBef>
              <a:buFont typeface="Arial"/>
              <a:buChar char="•"/>
            </a:pPr>
            <a:r>
              <a:rPr lang="en-US" sz="3399">
                <a:solidFill>
                  <a:srgbClr val="FFFFFF"/>
                </a:solidFill>
                <a:latin typeface="Canva Sans"/>
                <a:ea typeface="Canva Sans"/>
                <a:cs typeface="Canva Sans"/>
                <a:sym typeface="Canva Sans"/>
              </a:rPr>
              <a:t>Test Stages (Tentative):</a:t>
            </a:r>
          </a:p>
          <a:p>
            <a:pPr algn="just" marL="1468119" indent="-489373" lvl="2">
              <a:lnSpc>
                <a:spcPts val="4759"/>
              </a:lnSpc>
              <a:spcBef>
                <a:spcPct val="0"/>
              </a:spcBef>
              <a:buFont typeface="Arial"/>
              <a:buChar char="⚬"/>
            </a:pPr>
            <a:r>
              <a:rPr lang="en-US" sz="3399">
                <a:solidFill>
                  <a:srgbClr val="FFFFFF"/>
                </a:solidFill>
                <a:latin typeface="Canva Sans"/>
                <a:ea typeface="Canva Sans"/>
                <a:cs typeface="Canva Sans"/>
                <a:sym typeface="Canva Sans"/>
              </a:rPr>
              <a:t>Basic Aptitude – General knowledge assessment.</a:t>
            </a:r>
          </a:p>
          <a:p>
            <a:pPr algn="just" marL="1468119" indent="-489373" lvl="2">
              <a:lnSpc>
                <a:spcPts val="4759"/>
              </a:lnSpc>
              <a:spcBef>
                <a:spcPct val="0"/>
              </a:spcBef>
              <a:buFont typeface="Arial"/>
              <a:buChar char="⚬"/>
            </a:pPr>
            <a:r>
              <a:rPr lang="en-US" sz="3399">
                <a:solidFill>
                  <a:srgbClr val="FFFFFF"/>
                </a:solidFill>
                <a:latin typeface="Canva Sans"/>
                <a:ea typeface="Canva Sans"/>
                <a:cs typeface="Canva Sans"/>
                <a:sym typeface="Canva Sans"/>
              </a:rPr>
              <a:t>Technical Questions – Role-specific skills evaluation.</a:t>
            </a:r>
          </a:p>
          <a:p>
            <a:pPr algn="just">
              <a:lnSpc>
                <a:spcPts val="475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2546548" y="2419667"/>
            <a:ext cx="13194904" cy="5380990"/>
          </a:xfrm>
          <a:prstGeom prst="rect">
            <a:avLst/>
          </a:prstGeom>
        </p:spPr>
        <p:txBody>
          <a:bodyPr anchor="t" rtlCol="false" tIns="0" lIns="0" bIns="0" rIns="0">
            <a:spAutoFit/>
          </a:bodyPr>
          <a:lstStyle/>
          <a:p>
            <a:pPr algn="just">
              <a:lnSpc>
                <a:spcPts val="4759"/>
              </a:lnSpc>
              <a:spcBef>
                <a:spcPct val="0"/>
              </a:spcBef>
            </a:pPr>
            <a:r>
              <a:rPr lang="en-US" sz="3399">
                <a:solidFill>
                  <a:srgbClr val="FFFFFF"/>
                </a:solidFill>
                <a:latin typeface="Canva Sans"/>
                <a:ea typeface="Canva Sans"/>
                <a:cs typeface="Canva Sans"/>
                <a:sym typeface="Canva Sans"/>
              </a:rPr>
              <a:t>3. AI Interview &amp; Test Monit</a:t>
            </a:r>
            <a:r>
              <a:rPr lang="en-US" sz="3399">
                <a:solidFill>
                  <a:srgbClr val="FFFFFF"/>
                </a:solidFill>
                <a:latin typeface="Canva Sans"/>
                <a:ea typeface="Canva Sans"/>
                <a:cs typeface="Canva Sans"/>
                <a:sym typeface="Canva Sans"/>
              </a:rPr>
              <a:t>oring</a:t>
            </a:r>
          </a:p>
          <a:p>
            <a:pPr algn="just">
              <a:lnSpc>
                <a:spcPts val="4759"/>
              </a:lnSpc>
              <a:spcBef>
                <a:spcPct val="0"/>
              </a:spcBef>
            </a:pPr>
            <a:r>
              <a:rPr lang="en-US" sz="3399">
                <a:solidFill>
                  <a:srgbClr val="FFFFFF"/>
                </a:solidFill>
                <a:latin typeface="Canva Sans"/>
                <a:ea typeface="Canva Sans"/>
                <a:cs typeface="Canva Sans"/>
                <a:sym typeface="Canva Sans"/>
              </a:rPr>
              <a:t>Objective: Ensure fair, real-time evaluation through AI-assisted monitoring.</a:t>
            </a:r>
          </a:p>
          <a:p>
            <a:pPr algn="just" marL="734059" indent="-367030" lvl="1">
              <a:lnSpc>
                <a:spcPts val="4759"/>
              </a:lnSpc>
              <a:spcBef>
                <a:spcPct val="0"/>
              </a:spcBef>
              <a:buFont typeface="Arial"/>
              <a:buChar char="•"/>
            </a:pPr>
            <a:r>
              <a:rPr lang="en-US" sz="3399">
                <a:solidFill>
                  <a:srgbClr val="FFFFFF"/>
                </a:solidFill>
                <a:latin typeface="Canva Sans"/>
                <a:ea typeface="Canva Sans"/>
                <a:cs typeface="Canva Sans"/>
                <a:sym typeface="Canva Sans"/>
              </a:rPr>
              <a:t>Features:</a:t>
            </a:r>
          </a:p>
          <a:p>
            <a:pPr algn="just" marL="1468119" indent="-489373" lvl="2">
              <a:lnSpc>
                <a:spcPts val="4759"/>
              </a:lnSpc>
              <a:spcBef>
                <a:spcPct val="0"/>
              </a:spcBef>
              <a:buFont typeface="Arial"/>
              <a:buChar char="⚬"/>
            </a:pPr>
            <a:r>
              <a:rPr lang="en-US" sz="3399">
                <a:solidFill>
                  <a:srgbClr val="FFFFFF"/>
                </a:solidFill>
                <a:latin typeface="Canva Sans"/>
                <a:ea typeface="Canva Sans"/>
                <a:cs typeface="Canva Sans"/>
                <a:sym typeface="Canva Sans"/>
              </a:rPr>
              <a:t>Real-time test proctoring and AI-based response analysis.</a:t>
            </a:r>
          </a:p>
          <a:p>
            <a:pPr algn="just" marL="1468119" indent="-489373" lvl="2">
              <a:lnSpc>
                <a:spcPts val="4759"/>
              </a:lnSpc>
              <a:spcBef>
                <a:spcPct val="0"/>
              </a:spcBef>
              <a:buFont typeface="Arial"/>
              <a:buChar char="⚬"/>
            </a:pPr>
            <a:r>
              <a:rPr lang="en-US" sz="3399">
                <a:solidFill>
                  <a:srgbClr val="FFFFFF"/>
                </a:solidFill>
                <a:latin typeface="Canva Sans"/>
                <a:ea typeface="Canva Sans"/>
                <a:cs typeface="Canva Sans"/>
                <a:sym typeface="Canva Sans"/>
              </a:rPr>
              <a:t>Evaluate technical, communication, and soft skills for a holistic assessment.</a:t>
            </a:r>
          </a:p>
          <a:p>
            <a:pPr algn="just">
              <a:lnSpc>
                <a:spcPts val="475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1986062" y="1477010"/>
            <a:ext cx="14315876" cy="7781290"/>
          </a:xfrm>
          <a:prstGeom prst="rect">
            <a:avLst/>
          </a:prstGeom>
        </p:spPr>
        <p:txBody>
          <a:bodyPr anchor="t" rtlCol="false" tIns="0" lIns="0" bIns="0" rIns="0">
            <a:spAutoFit/>
          </a:bodyPr>
          <a:lstStyle/>
          <a:p>
            <a:pPr algn="just">
              <a:lnSpc>
                <a:spcPts val="4759"/>
              </a:lnSpc>
              <a:spcBef>
                <a:spcPct val="0"/>
              </a:spcBef>
            </a:pPr>
            <a:r>
              <a:rPr lang="en-US" sz="3399">
                <a:solidFill>
                  <a:srgbClr val="FFFFFF"/>
                </a:solidFill>
                <a:latin typeface="Canva Sans"/>
                <a:ea typeface="Canva Sans"/>
                <a:cs typeface="Canva Sans"/>
                <a:sym typeface="Canva Sans"/>
              </a:rPr>
              <a:t>4. AI-Based Sc</a:t>
            </a:r>
            <a:r>
              <a:rPr lang="en-US" sz="3399">
                <a:solidFill>
                  <a:srgbClr val="FFFFFF"/>
                </a:solidFill>
                <a:latin typeface="Canva Sans"/>
                <a:ea typeface="Canva Sans"/>
                <a:cs typeface="Canva Sans"/>
                <a:sym typeface="Canva Sans"/>
              </a:rPr>
              <a:t>oring &amp; Insights</a:t>
            </a:r>
          </a:p>
          <a:p>
            <a:pPr algn="just">
              <a:lnSpc>
                <a:spcPts val="4759"/>
              </a:lnSpc>
              <a:spcBef>
                <a:spcPct val="0"/>
              </a:spcBef>
            </a:pPr>
            <a:r>
              <a:rPr lang="en-US" sz="3399">
                <a:solidFill>
                  <a:srgbClr val="FFFFFF"/>
                </a:solidFill>
                <a:latin typeface="Canva Sans"/>
                <a:ea typeface="Canva Sans"/>
                <a:cs typeface="Canva Sans"/>
                <a:sym typeface="Canva Sans"/>
              </a:rPr>
              <a:t>Objective: Provide an unbiased, transparent evaluation process.</a:t>
            </a:r>
          </a:p>
          <a:p>
            <a:pPr algn="just" marL="734059" indent="-367030" lvl="1">
              <a:lnSpc>
                <a:spcPts val="4759"/>
              </a:lnSpc>
              <a:spcBef>
                <a:spcPct val="0"/>
              </a:spcBef>
              <a:buFont typeface="Arial"/>
              <a:buChar char="•"/>
            </a:pPr>
            <a:r>
              <a:rPr lang="en-US" sz="3399">
                <a:solidFill>
                  <a:srgbClr val="FFFFFF"/>
                </a:solidFill>
                <a:latin typeface="Canva Sans"/>
                <a:ea typeface="Canva Sans"/>
                <a:cs typeface="Canva Sans"/>
                <a:sym typeface="Canva Sans"/>
              </a:rPr>
              <a:t>Scoring Components:</a:t>
            </a:r>
          </a:p>
          <a:p>
            <a:pPr algn="just" marL="1468119" indent="-489373" lvl="2">
              <a:lnSpc>
                <a:spcPts val="4759"/>
              </a:lnSpc>
              <a:spcBef>
                <a:spcPct val="0"/>
              </a:spcBef>
              <a:buFont typeface="Arial"/>
              <a:buChar char="⚬"/>
            </a:pPr>
            <a:r>
              <a:rPr lang="en-US" sz="3399">
                <a:solidFill>
                  <a:srgbClr val="FFFFFF"/>
                </a:solidFill>
                <a:latin typeface="Canva Sans"/>
                <a:ea typeface="Canva Sans"/>
                <a:cs typeface="Canva Sans"/>
                <a:sym typeface="Canva Sans"/>
              </a:rPr>
              <a:t>Resume Screening – CV relevance scoring.</a:t>
            </a:r>
          </a:p>
          <a:p>
            <a:pPr algn="just" marL="1468119" indent="-489373" lvl="2">
              <a:lnSpc>
                <a:spcPts val="4759"/>
              </a:lnSpc>
              <a:spcBef>
                <a:spcPct val="0"/>
              </a:spcBef>
              <a:buFont typeface="Arial"/>
              <a:buChar char="⚬"/>
            </a:pPr>
            <a:r>
              <a:rPr lang="en-US" sz="3399">
                <a:solidFill>
                  <a:srgbClr val="FFFFFF"/>
                </a:solidFill>
                <a:latin typeface="Canva Sans"/>
                <a:ea typeface="Canva Sans"/>
                <a:cs typeface="Canva Sans"/>
                <a:sym typeface="Canva Sans"/>
              </a:rPr>
              <a:t>Quiz &amp; Technical Test – Knowledge and skills validation.</a:t>
            </a:r>
          </a:p>
          <a:p>
            <a:pPr algn="just" marL="1468119" indent="-489373" lvl="2">
              <a:lnSpc>
                <a:spcPts val="4759"/>
              </a:lnSpc>
              <a:spcBef>
                <a:spcPct val="0"/>
              </a:spcBef>
              <a:buFont typeface="Arial"/>
              <a:buChar char="⚬"/>
            </a:pPr>
            <a:r>
              <a:rPr lang="en-US" sz="3399">
                <a:solidFill>
                  <a:srgbClr val="FFFFFF"/>
                </a:solidFill>
                <a:latin typeface="Canva Sans"/>
                <a:ea typeface="Canva Sans"/>
                <a:cs typeface="Canva Sans"/>
                <a:sym typeface="Canva Sans"/>
              </a:rPr>
              <a:t>AI Interview – Communication and problem-solving assessment.</a:t>
            </a:r>
          </a:p>
          <a:p>
            <a:pPr algn="just" marL="734059" indent="-367030" lvl="1">
              <a:lnSpc>
                <a:spcPts val="4759"/>
              </a:lnSpc>
              <a:spcBef>
                <a:spcPct val="0"/>
              </a:spcBef>
              <a:buFont typeface="Arial"/>
              <a:buChar char="•"/>
            </a:pPr>
            <a:r>
              <a:rPr lang="en-US" sz="3399">
                <a:solidFill>
                  <a:srgbClr val="FFFFFF"/>
                </a:solidFill>
                <a:latin typeface="Canva Sans"/>
                <a:ea typeface="Canva Sans"/>
                <a:cs typeface="Canva Sans"/>
                <a:sym typeface="Canva Sans"/>
              </a:rPr>
              <a:t>Customization &amp; Reporting:</a:t>
            </a:r>
          </a:p>
          <a:p>
            <a:pPr algn="just" marL="1468119" indent="-489373" lvl="2">
              <a:lnSpc>
                <a:spcPts val="4759"/>
              </a:lnSpc>
              <a:spcBef>
                <a:spcPct val="0"/>
              </a:spcBef>
              <a:buFont typeface="Arial"/>
              <a:buChar char="⚬"/>
            </a:pPr>
            <a:r>
              <a:rPr lang="en-US" sz="3399">
                <a:solidFill>
                  <a:srgbClr val="FFFFFF"/>
                </a:solidFill>
                <a:latin typeface="Canva Sans"/>
                <a:ea typeface="Canva Sans"/>
                <a:cs typeface="Canva Sans"/>
                <a:sym typeface="Canva Sans"/>
              </a:rPr>
              <a:t>Companies can prioritize specific criteria (skills, experience, location, etc.).</a:t>
            </a:r>
          </a:p>
          <a:p>
            <a:pPr algn="just" marL="1468119" indent="-489373" lvl="2">
              <a:lnSpc>
                <a:spcPts val="4759"/>
              </a:lnSpc>
              <a:spcBef>
                <a:spcPct val="0"/>
              </a:spcBef>
              <a:buFont typeface="Arial"/>
              <a:buChar char="⚬"/>
            </a:pPr>
            <a:r>
              <a:rPr lang="en-US" sz="3399">
                <a:solidFill>
                  <a:srgbClr val="FFFFFF"/>
                </a:solidFill>
                <a:latin typeface="Canva Sans"/>
                <a:ea typeface="Canva Sans"/>
                <a:cs typeface="Canva Sans"/>
                <a:sym typeface="Canva Sans"/>
              </a:rPr>
              <a:t>Visualized recruitment pipeline with detailed reports for hiring decisions.</a:t>
            </a:r>
          </a:p>
          <a:p>
            <a:pPr algn="just">
              <a:lnSpc>
                <a:spcPts val="475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7990642" y="4652327"/>
            <a:ext cx="2306717"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Portals</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5902702" y="4652327"/>
            <a:ext cx="6482596"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Expected Outcomes</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6470630" y="4652327"/>
            <a:ext cx="5346740"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Uses and Impact</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7752338" y="4652327"/>
            <a:ext cx="2783324"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Timeline</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8269069" y="4652327"/>
            <a:ext cx="1749862"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Tools</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6637675" y="4652327"/>
            <a:ext cx="5012650" cy="1811020"/>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Thank you!</a:t>
            </a:r>
          </a:p>
          <a:p>
            <a:pPr algn="ctr">
              <a:lnSpc>
                <a:spcPts val="7279"/>
              </a:lnSpc>
            </a:pPr>
            <a:r>
              <a:rPr lang="en-US" sz="5199" b="true">
                <a:solidFill>
                  <a:srgbClr val="FFFFFF"/>
                </a:solidFill>
                <a:latin typeface="Canva Sans Bold"/>
                <a:ea typeface="Canva Sans Bold"/>
                <a:cs typeface="Canva Sans Bold"/>
                <a:sym typeface="Canva Sans Bold"/>
              </a:rP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DAGdmg05flE</dc:identifier>
  <dcterms:modified xsi:type="dcterms:W3CDTF">2011-08-01T06:04:30Z</dcterms:modified>
  <cp:revision>1</cp:revision>
  <dc:title>AI-Driven Job Interview Analyzer</dc:title>
</cp:coreProperties>
</file>