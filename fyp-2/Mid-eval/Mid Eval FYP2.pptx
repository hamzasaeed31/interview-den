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slide+xml" PartName="/ppt/slides/slide14.xml"/>
  <Override ContentType="application/vnd.openxmlformats-officedocument.presentationml.slide+xml" PartName="/ppt/slides/slide15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</p:sldIdLst>
  <p:sldSz cx="18288000" cy="10287000"/>
  <p:notesSz cx="6858000" cy="9144000"/>
  <p:embeddedFontLst>
    <p:embeddedFont>
      <p:font typeface="Now Bold" charset="1" panose="00000800000000000000"/>
      <p:regular r:id="rId21"/>
    </p:embeddedFont>
    <p:embeddedFont>
      <p:font typeface="Canva Sans Bold" charset="1" panose="020B0803030501040103"/>
      <p:regular r:id="rId22"/>
    </p:embeddedFont>
    <p:embeddedFont>
      <p:font typeface="Canva Sans" charset="1" panose="020B0503030501040103"/>
      <p:regular r:id="rId23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slides/slide13.xml" Type="http://schemas.openxmlformats.org/officeDocument/2006/relationships/slide"/><Relationship Id="rId19" Target="slides/slide14.xml" Type="http://schemas.openxmlformats.org/officeDocument/2006/relationships/slide"/><Relationship Id="rId2" Target="presProps.xml" Type="http://schemas.openxmlformats.org/officeDocument/2006/relationships/presProps"/><Relationship Id="rId20" Target="slides/slide15.xml" Type="http://schemas.openxmlformats.org/officeDocument/2006/relationships/slide"/><Relationship Id="rId21" Target="fonts/font21.fntdata" Type="http://schemas.openxmlformats.org/officeDocument/2006/relationships/font"/><Relationship Id="rId22" Target="fonts/font22.fntdata" Type="http://schemas.openxmlformats.org/officeDocument/2006/relationships/font"/><Relationship Id="rId23" Target="fonts/font23.fntdata" Type="http://schemas.openxmlformats.org/officeDocument/2006/relationships/font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jpe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6.jpe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7.jpe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8.pn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9.pn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51D4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-5400000">
            <a:off x="11392544" y="4154952"/>
            <a:ext cx="11958151" cy="1929323"/>
            <a:chOff x="0" y="0"/>
            <a:chExt cx="3149472" cy="508135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3149472" cy="508135"/>
            </a:xfrm>
            <a:custGeom>
              <a:avLst/>
              <a:gdLst/>
              <a:ahLst/>
              <a:cxnLst/>
              <a:rect r="r" b="b" t="t" l="l"/>
              <a:pathLst>
                <a:path h="508135" w="3149472">
                  <a:moveTo>
                    <a:pt x="0" y="0"/>
                  </a:moveTo>
                  <a:lnTo>
                    <a:pt x="3149472" y="0"/>
                  </a:lnTo>
                  <a:lnTo>
                    <a:pt x="3149472" y="508135"/>
                  </a:lnTo>
                  <a:lnTo>
                    <a:pt x="0" y="508135"/>
                  </a:lnTo>
                  <a:close/>
                </a:path>
              </a:pathLst>
            </a:custGeom>
            <a:solidFill>
              <a:srgbClr val="145DA0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28575"/>
              <a:ext cx="3149472" cy="53671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90"/>
                </a:lnSpc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11208957" y="-1011147"/>
            <a:ext cx="2647750" cy="2647750"/>
          </a:xfrm>
          <a:custGeom>
            <a:avLst/>
            <a:gdLst/>
            <a:ahLst/>
            <a:cxnLst/>
            <a:rect r="r" b="b" t="t" l="l"/>
            <a:pathLst>
              <a:path h="2647750" w="2647750">
                <a:moveTo>
                  <a:pt x="0" y="0"/>
                </a:moveTo>
                <a:lnTo>
                  <a:pt x="2647750" y="0"/>
                </a:lnTo>
                <a:lnTo>
                  <a:pt x="2647750" y="2647750"/>
                </a:lnTo>
                <a:lnTo>
                  <a:pt x="0" y="264775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-295175" y="8630507"/>
            <a:ext cx="2647750" cy="2647750"/>
          </a:xfrm>
          <a:custGeom>
            <a:avLst/>
            <a:gdLst/>
            <a:ahLst/>
            <a:cxnLst/>
            <a:rect r="r" b="b" t="t" l="l"/>
            <a:pathLst>
              <a:path h="2647750" w="2647750">
                <a:moveTo>
                  <a:pt x="0" y="0"/>
                </a:moveTo>
                <a:lnTo>
                  <a:pt x="2647750" y="0"/>
                </a:lnTo>
                <a:lnTo>
                  <a:pt x="2647750" y="2647751"/>
                </a:lnTo>
                <a:lnTo>
                  <a:pt x="0" y="264775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16406958" y="312728"/>
            <a:ext cx="1881042" cy="1881042"/>
          </a:xfrm>
          <a:custGeom>
            <a:avLst/>
            <a:gdLst/>
            <a:ahLst/>
            <a:cxnLst/>
            <a:rect r="r" b="b" t="t" l="l"/>
            <a:pathLst>
              <a:path h="1881042" w="1881042">
                <a:moveTo>
                  <a:pt x="0" y="0"/>
                </a:moveTo>
                <a:lnTo>
                  <a:pt x="1881042" y="0"/>
                </a:lnTo>
                <a:lnTo>
                  <a:pt x="1881042" y="1881042"/>
                </a:lnTo>
                <a:lnTo>
                  <a:pt x="0" y="1881042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16406958" y="2368073"/>
            <a:ext cx="1881042" cy="1881042"/>
          </a:xfrm>
          <a:custGeom>
            <a:avLst/>
            <a:gdLst/>
            <a:ahLst/>
            <a:cxnLst/>
            <a:rect r="r" b="b" t="t" l="l"/>
            <a:pathLst>
              <a:path h="1881042" w="1881042">
                <a:moveTo>
                  <a:pt x="0" y="0"/>
                </a:moveTo>
                <a:lnTo>
                  <a:pt x="1881042" y="0"/>
                </a:lnTo>
                <a:lnTo>
                  <a:pt x="1881042" y="1881042"/>
                </a:lnTo>
                <a:lnTo>
                  <a:pt x="0" y="1881042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1028700" y="1038225"/>
            <a:ext cx="14029209" cy="427744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1275"/>
              </a:lnSpc>
            </a:pPr>
            <a:r>
              <a:rPr lang="en-US" sz="9395" b="true">
                <a:solidFill>
                  <a:srgbClr val="56AEFF"/>
                </a:solidFill>
                <a:latin typeface="Now Bold"/>
                <a:ea typeface="Now Bold"/>
                <a:cs typeface="Now Bold"/>
                <a:sym typeface="Now Bold"/>
              </a:rPr>
              <a:t>AI</a:t>
            </a:r>
            <a:r>
              <a:rPr lang="en-US" sz="9395" b="true">
                <a:solidFill>
                  <a:srgbClr val="FFFBFB"/>
                </a:solidFill>
                <a:latin typeface="Now Bold"/>
                <a:ea typeface="Now Bold"/>
                <a:cs typeface="Now Bold"/>
                <a:sym typeface="Now Bold"/>
              </a:rPr>
              <a:t>-DRIVEN JOB </a:t>
            </a:r>
            <a:r>
              <a:rPr lang="en-US" sz="9395" b="true">
                <a:solidFill>
                  <a:srgbClr val="56AEFF"/>
                </a:solidFill>
                <a:latin typeface="Now Bold"/>
                <a:ea typeface="Now Bold"/>
                <a:cs typeface="Now Bold"/>
                <a:sym typeface="Now Bold"/>
              </a:rPr>
              <a:t>INTERVIEW</a:t>
            </a:r>
            <a:r>
              <a:rPr lang="en-US" sz="9395" b="true">
                <a:solidFill>
                  <a:srgbClr val="FFFBFB"/>
                </a:solidFill>
                <a:latin typeface="Now Bold"/>
                <a:ea typeface="Now Bold"/>
                <a:cs typeface="Now Bold"/>
                <a:sym typeface="Now Bold"/>
              </a:rPr>
              <a:t> ANALYZER</a:t>
            </a:r>
          </a:p>
          <a:p>
            <a:pPr algn="l">
              <a:lnSpc>
                <a:spcPts val="11275"/>
              </a:lnSpc>
            </a:pPr>
          </a:p>
        </p:txBody>
      </p:sp>
      <p:sp>
        <p:nvSpPr>
          <p:cNvPr name="TextBox 10" id="10"/>
          <p:cNvSpPr txBox="true"/>
          <p:nvPr/>
        </p:nvSpPr>
        <p:spPr>
          <a:xfrm rot="0">
            <a:off x="1028700" y="3800488"/>
            <a:ext cx="10896957" cy="8115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720"/>
              </a:lnSpc>
            </a:pPr>
            <a:r>
              <a:rPr lang="en-US" sz="4800" b="true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Short Title: Interview Den (S25-47-D)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028700" y="6877685"/>
            <a:ext cx="6761917" cy="23806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4759"/>
              </a:lnSpc>
            </a:pPr>
            <a:r>
              <a:rPr lang="en-US" sz="3399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Team:       Hamza Saeed  21i-0671</a:t>
            </a:r>
          </a:p>
          <a:p>
            <a:pPr algn="r">
              <a:lnSpc>
                <a:spcPts val="4759"/>
              </a:lnSpc>
            </a:pPr>
            <a:r>
              <a:rPr lang="en-US" sz="3399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 Waleed Saeed  21i-1672</a:t>
            </a:r>
          </a:p>
          <a:p>
            <a:pPr algn="r">
              <a:lnSpc>
                <a:spcPts val="4759"/>
              </a:lnSpc>
            </a:pPr>
            <a:r>
              <a:rPr lang="en-US" sz="3399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 Asad Ullah Shah 21i-0545</a:t>
            </a:r>
          </a:p>
          <a:p>
            <a:pPr algn="ctr">
              <a:lnSpc>
                <a:spcPts val="4759"/>
              </a:lnSpc>
            </a:pPr>
          </a:p>
        </p:txBody>
      </p:sp>
      <p:sp>
        <p:nvSpPr>
          <p:cNvPr name="TextBox 12" id="12"/>
          <p:cNvSpPr txBox="true"/>
          <p:nvPr/>
        </p:nvSpPr>
        <p:spPr>
          <a:xfrm rot="0">
            <a:off x="9427503" y="6877685"/>
            <a:ext cx="6210658" cy="11804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4759"/>
              </a:lnSpc>
            </a:pPr>
            <a:r>
              <a:rPr lang="en-US" sz="3399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Supervisor: Dr. Mehreen Alam</a:t>
            </a:r>
          </a:p>
          <a:p>
            <a:pPr algn="r">
              <a:lnSpc>
                <a:spcPts val="4759"/>
              </a:lnSpc>
            </a:pP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>
  <p:cSld>
    <p:bg>
      <p:bgPr>
        <a:solidFill>
          <a:srgbClr val="051D4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9139238" y="4819967"/>
            <a:ext cx="9525" cy="5803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759"/>
              </a:lnSpc>
              <a:spcBef>
                <a:spcPct val="0"/>
              </a:spcBef>
            </a:pPr>
          </a:p>
        </p:txBody>
      </p:sp>
      <p:sp>
        <p:nvSpPr>
          <p:cNvPr name="TextBox 3" id="3"/>
          <p:cNvSpPr txBox="true"/>
          <p:nvPr/>
        </p:nvSpPr>
        <p:spPr>
          <a:xfrm rot="0">
            <a:off x="0" y="4215760"/>
            <a:ext cx="9139238" cy="167450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3777"/>
              </a:lnSpc>
            </a:pPr>
            <a:r>
              <a:rPr lang="en-US" sz="9841" b="true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Recap</a:t>
            </a:r>
          </a:p>
        </p:txBody>
      </p:sp>
      <p:sp>
        <p:nvSpPr>
          <p:cNvPr name="AutoShape 4" id="4"/>
          <p:cNvSpPr/>
          <p:nvPr/>
        </p:nvSpPr>
        <p:spPr>
          <a:xfrm>
            <a:off x="9144000" y="1028700"/>
            <a:ext cx="0" cy="8229600"/>
          </a:xfrm>
          <a:prstGeom prst="line">
            <a:avLst/>
          </a:prstGeom>
          <a:ln cap="flat" w="57150">
            <a:solidFill>
              <a:srgbClr val="FFFFF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5" id="5"/>
          <p:cNvSpPr txBox="true"/>
          <p:nvPr/>
        </p:nvSpPr>
        <p:spPr>
          <a:xfrm rot="0">
            <a:off x="9884894" y="1219835"/>
            <a:ext cx="7374406" cy="77711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599"/>
              </a:lnSpc>
            </a:pPr>
            <a:r>
              <a:rPr lang="en-US" sz="3999" b="true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Project Focus</a:t>
            </a:r>
          </a:p>
          <a:p>
            <a:pPr algn="just">
              <a:lnSpc>
                <a:spcPts val="5040"/>
              </a:lnSpc>
            </a:pPr>
            <a:r>
              <a:rPr lang="en-US" sz="3600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The AI-Driven Job Interview Analyzer aims to automate and optimize the hiring process by leveraging AI. </a:t>
            </a:r>
          </a:p>
          <a:p>
            <a:pPr algn="ctr">
              <a:lnSpc>
                <a:spcPts val="5040"/>
              </a:lnSpc>
            </a:pPr>
          </a:p>
          <a:p>
            <a:pPr algn="ctr">
              <a:lnSpc>
                <a:spcPts val="5599"/>
              </a:lnSpc>
            </a:pPr>
            <a:r>
              <a:rPr lang="en-US" sz="3999" b="true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Our Goal</a:t>
            </a:r>
          </a:p>
          <a:p>
            <a:pPr algn="l" marL="777240" indent="-388620" lvl="1">
              <a:lnSpc>
                <a:spcPts val="5040"/>
              </a:lnSpc>
              <a:buFont typeface="Arial"/>
              <a:buChar char="•"/>
            </a:pPr>
            <a:r>
              <a:rPr lang="en-US" sz="3600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AI Resume Screening</a:t>
            </a:r>
          </a:p>
          <a:p>
            <a:pPr algn="l" marL="777240" indent="-388620" lvl="1">
              <a:lnSpc>
                <a:spcPts val="5040"/>
              </a:lnSpc>
              <a:buFont typeface="Arial"/>
              <a:buChar char="•"/>
            </a:pPr>
            <a:r>
              <a:rPr lang="en-US" sz="3600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AI Test Creation</a:t>
            </a:r>
          </a:p>
          <a:p>
            <a:pPr algn="l" marL="777240" indent="-388620" lvl="1">
              <a:lnSpc>
                <a:spcPts val="5040"/>
              </a:lnSpc>
              <a:buFont typeface="Arial"/>
              <a:buChar char="•"/>
            </a:pPr>
            <a:r>
              <a:rPr lang="en-US" sz="3600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AI Interview</a:t>
            </a:r>
          </a:p>
          <a:p>
            <a:pPr algn="l" marL="777240" indent="-388620" lvl="1">
              <a:lnSpc>
                <a:spcPts val="5040"/>
              </a:lnSpc>
              <a:buFont typeface="Arial"/>
              <a:buChar char="•"/>
            </a:pPr>
            <a:r>
              <a:rPr lang="en-US" sz="3600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AI based Scoring and Insights</a:t>
            </a:r>
          </a:p>
          <a:p>
            <a:pPr algn="ctr">
              <a:lnSpc>
                <a:spcPts val="5040"/>
              </a:lnSpc>
              <a:spcBef>
                <a:spcPct val="0"/>
              </a:spcBef>
            </a:pP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51D4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033462" y="2939344"/>
            <a:ext cx="16230600" cy="2204156"/>
          </a:xfrm>
          <a:custGeom>
            <a:avLst/>
            <a:gdLst/>
            <a:ahLst/>
            <a:cxnLst/>
            <a:rect r="r" b="b" t="t" l="l"/>
            <a:pathLst>
              <a:path h="2204156" w="16230600">
                <a:moveTo>
                  <a:pt x="0" y="0"/>
                </a:moveTo>
                <a:lnTo>
                  <a:pt x="16230600" y="0"/>
                </a:lnTo>
                <a:lnTo>
                  <a:pt x="16230600" y="2204156"/>
                </a:lnTo>
                <a:lnTo>
                  <a:pt x="0" y="2204156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9139238" y="4819967"/>
            <a:ext cx="9525" cy="5803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759"/>
              </a:lnSpc>
              <a:spcBef>
                <a:spcPct val="0"/>
              </a:spcBef>
            </a:pPr>
          </a:p>
        </p:txBody>
      </p:sp>
      <p:sp>
        <p:nvSpPr>
          <p:cNvPr name="TextBox 4" id="4"/>
          <p:cNvSpPr txBox="true"/>
          <p:nvPr/>
        </p:nvSpPr>
        <p:spPr>
          <a:xfrm rot="0">
            <a:off x="0" y="847725"/>
            <a:ext cx="7710514" cy="167450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3777"/>
              </a:lnSpc>
            </a:pPr>
            <a:r>
              <a:rPr lang="en-US" sz="9841" b="true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Feedback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51D4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8354853" y="0"/>
            <a:ext cx="9933147" cy="10287000"/>
          </a:xfrm>
          <a:custGeom>
            <a:avLst/>
            <a:gdLst/>
            <a:ahLst/>
            <a:cxnLst/>
            <a:rect r="r" b="b" t="t" l="l"/>
            <a:pathLst>
              <a:path h="10287000" w="9933147">
                <a:moveTo>
                  <a:pt x="0" y="0"/>
                </a:moveTo>
                <a:lnTo>
                  <a:pt x="9933147" y="0"/>
                </a:lnTo>
                <a:lnTo>
                  <a:pt x="9933147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1028700" y="942975"/>
            <a:ext cx="7207706" cy="880127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368"/>
              </a:lnSpc>
            </a:pPr>
            <a:r>
              <a:rPr lang="en-US" sz="4548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The automate</a:t>
            </a:r>
            <a:r>
              <a:rPr lang="en-US" sz="4548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d resume-to-job description matching achieved a highly stable score of 72. </a:t>
            </a:r>
          </a:p>
          <a:p>
            <a:pPr algn="ctr">
              <a:lnSpc>
                <a:spcPts val="6368"/>
              </a:lnSpc>
            </a:pPr>
          </a:p>
          <a:p>
            <a:pPr algn="ctr">
              <a:lnSpc>
                <a:spcPts val="6368"/>
              </a:lnSpc>
            </a:pPr>
            <a:r>
              <a:rPr lang="en-US" sz="4548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Scoring deviation was negligible, confirming exceptional consistency, and the qualitative comments generated were uniformly similar.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51D4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3100000" y="1870783"/>
            <a:ext cx="12088001" cy="7564444"/>
          </a:xfrm>
          <a:custGeom>
            <a:avLst/>
            <a:gdLst/>
            <a:ahLst/>
            <a:cxnLst/>
            <a:rect r="r" b="b" t="t" l="l"/>
            <a:pathLst>
              <a:path h="7564444" w="12088001">
                <a:moveTo>
                  <a:pt x="0" y="0"/>
                </a:moveTo>
                <a:lnTo>
                  <a:pt x="12088000" y="0"/>
                </a:lnTo>
                <a:lnTo>
                  <a:pt x="12088000" y="7564445"/>
                </a:lnTo>
                <a:lnTo>
                  <a:pt x="0" y="7564445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969169" y="523153"/>
            <a:ext cx="16349662" cy="95815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759"/>
              </a:lnSpc>
            </a:pPr>
            <a:r>
              <a:rPr lang="en-US" sz="3399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Repeate</a:t>
            </a:r>
            <a:r>
              <a:rPr lang="en-US" sz="3399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d evaluations of the interview demonstrated high scoring consistency. </a:t>
            </a:r>
          </a:p>
          <a:p>
            <a:pPr algn="ctr">
              <a:lnSpc>
                <a:spcPts val="4759"/>
              </a:lnSpc>
            </a:pPr>
            <a:r>
              <a:rPr lang="en-US" sz="3399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The average score was 82, with a narrow deviation range of -2 to +3 points.</a:t>
            </a:r>
          </a:p>
          <a:p>
            <a:pPr algn="ctr">
              <a:lnSpc>
                <a:spcPts val="4759"/>
              </a:lnSpc>
            </a:pPr>
          </a:p>
          <a:p>
            <a:pPr algn="ctr">
              <a:lnSpc>
                <a:spcPts val="4759"/>
              </a:lnSpc>
            </a:pPr>
          </a:p>
          <a:p>
            <a:pPr algn="ctr">
              <a:lnSpc>
                <a:spcPts val="4759"/>
              </a:lnSpc>
            </a:pPr>
          </a:p>
          <a:p>
            <a:pPr algn="ctr">
              <a:lnSpc>
                <a:spcPts val="4759"/>
              </a:lnSpc>
            </a:pPr>
          </a:p>
          <a:p>
            <a:pPr algn="ctr">
              <a:lnSpc>
                <a:spcPts val="4759"/>
              </a:lnSpc>
            </a:pPr>
          </a:p>
          <a:p>
            <a:pPr algn="ctr">
              <a:lnSpc>
                <a:spcPts val="4759"/>
              </a:lnSpc>
            </a:pPr>
          </a:p>
          <a:p>
            <a:pPr algn="ctr">
              <a:lnSpc>
                <a:spcPts val="4759"/>
              </a:lnSpc>
            </a:pPr>
          </a:p>
          <a:p>
            <a:pPr algn="ctr">
              <a:lnSpc>
                <a:spcPts val="4759"/>
              </a:lnSpc>
            </a:pPr>
          </a:p>
          <a:p>
            <a:pPr algn="ctr">
              <a:lnSpc>
                <a:spcPts val="4759"/>
              </a:lnSpc>
            </a:pPr>
          </a:p>
          <a:p>
            <a:pPr algn="ctr">
              <a:lnSpc>
                <a:spcPts val="4759"/>
              </a:lnSpc>
            </a:pPr>
          </a:p>
          <a:p>
            <a:pPr algn="ctr">
              <a:lnSpc>
                <a:spcPts val="4759"/>
              </a:lnSpc>
            </a:pPr>
          </a:p>
          <a:p>
            <a:pPr algn="ctr">
              <a:lnSpc>
                <a:spcPts val="4759"/>
              </a:lnSpc>
            </a:pPr>
            <a:r>
              <a:rPr lang="en-US" sz="3399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 </a:t>
            </a:r>
          </a:p>
          <a:p>
            <a:pPr algn="ctr">
              <a:lnSpc>
                <a:spcPts val="4759"/>
              </a:lnSpc>
            </a:pPr>
          </a:p>
          <a:p>
            <a:pPr algn="ctr">
              <a:lnSpc>
                <a:spcPts val="4759"/>
              </a:lnSpc>
            </a:pPr>
            <a:r>
              <a:rPr lang="en-US" sz="3399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Qualitative feedback also remained highly similar across all evaluation runs.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>
  <p:cSld>
    <p:bg>
      <p:bgPr>
        <a:solidFill>
          <a:srgbClr val="051D4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028700" y="923925"/>
            <a:ext cx="3117973" cy="99182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155"/>
              </a:lnSpc>
            </a:pPr>
            <a:r>
              <a:rPr lang="en-US" sz="5825" b="true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Timeline</a:t>
            </a:r>
          </a:p>
        </p:txBody>
      </p:sp>
      <p:grpSp>
        <p:nvGrpSpPr>
          <p:cNvPr name="Group 3" id="3"/>
          <p:cNvGrpSpPr/>
          <p:nvPr/>
        </p:nvGrpSpPr>
        <p:grpSpPr>
          <a:xfrm rot="0">
            <a:off x="1455718" y="4293733"/>
            <a:ext cx="15376564" cy="2088791"/>
            <a:chOff x="0" y="0"/>
            <a:chExt cx="20502086" cy="2785055"/>
          </a:xfrm>
        </p:grpSpPr>
        <p:sp>
          <p:nvSpPr>
            <p:cNvPr name="AutoShape 4" id="4"/>
            <p:cNvSpPr/>
            <p:nvPr/>
          </p:nvSpPr>
          <p:spPr>
            <a:xfrm>
              <a:off x="0" y="1392609"/>
              <a:ext cx="20502086" cy="0"/>
            </a:xfrm>
            <a:prstGeom prst="line">
              <a:avLst/>
            </a:prstGeom>
            <a:ln cap="flat" w="70549">
              <a:solidFill>
                <a:srgbClr val="FFFFFF"/>
              </a:solidFill>
              <a:prstDash val="sysDot"/>
              <a:headEnd type="none" len="sm" w="sm"/>
              <a:tailEnd type="none" len="sm" w="sm"/>
            </a:ln>
          </p:spPr>
        </p:sp>
        <p:sp>
          <p:nvSpPr>
            <p:cNvPr name="AutoShape 5" id="5"/>
            <p:cNvSpPr/>
            <p:nvPr/>
          </p:nvSpPr>
          <p:spPr>
            <a:xfrm flipV="true">
              <a:off x="2837289" y="1392446"/>
              <a:ext cx="0" cy="1392609"/>
            </a:xfrm>
            <a:prstGeom prst="line">
              <a:avLst/>
            </a:prstGeom>
            <a:ln cap="flat" w="70549">
              <a:solidFill>
                <a:srgbClr val="FFFFFF"/>
              </a:solidFill>
              <a:prstDash val="sysDot"/>
              <a:headEnd type="none" len="sm" w="sm"/>
              <a:tailEnd type="none" len="sm" w="sm"/>
            </a:ln>
          </p:spPr>
        </p:sp>
        <p:sp>
          <p:nvSpPr>
            <p:cNvPr name="AutoShape 6" id="6"/>
            <p:cNvSpPr/>
            <p:nvPr/>
          </p:nvSpPr>
          <p:spPr>
            <a:xfrm flipV="true">
              <a:off x="7358006" y="0"/>
              <a:ext cx="0" cy="1392609"/>
            </a:xfrm>
            <a:prstGeom prst="line">
              <a:avLst/>
            </a:prstGeom>
            <a:ln cap="flat" w="70549">
              <a:solidFill>
                <a:srgbClr val="FFFFFF"/>
              </a:solidFill>
              <a:prstDash val="sysDot"/>
              <a:headEnd type="none" len="sm" w="sm"/>
              <a:tailEnd type="none" len="sm" w="sm"/>
            </a:ln>
          </p:spPr>
        </p:sp>
        <p:sp>
          <p:nvSpPr>
            <p:cNvPr name="AutoShape 7" id="7"/>
            <p:cNvSpPr/>
            <p:nvPr/>
          </p:nvSpPr>
          <p:spPr>
            <a:xfrm flipV="true">
              <a:off x="11870250" y="1392446"/>
              <a:ext cx="0" cy="1392609"/>
            </a:xfrm>
            <a:prstGeom prst="line">
              <a:avLst/>
            </a:prstGeom>
            <a:ln cap="flat" w="70549">
              <a:solidFill>
                <a:srgbClr val="FFFFFF"/>
              </a:solidFill>
              <a:prstDash val="sysDot"/>
              <a:headEnd type="none" len="sm" w="sm"/>
              <a:tailEnd type="none" len="sm" w="sm"/>
            </a:ln>
          </p:spPr>
        </p:sp>
        <p:sp>
          <p:nvSpPr>
            <p:cNvPr name="AutoShape 8" id="8"/>
            <p:cNvSpPr/>
            <p:nvPr/>
          </p:nvSpPr>
          <p:spPr>
            <a:xfrm flipV="true">
              <a:off x="16382494" y="0"/>
              <a:ext cx="0" cy="1392609"/>
            </a:xfrm>
            <a:prstGeom prst="line">
              <a:avLst/>
            </a:prstGeom>
            <a:ln cap="flat" w="70549">
              <a:solidFill>
                <a:srgbClr val="FFFFFF"/>
              </a:solidFill>
              <a:prstDash val="sysDot"/>
              <a:headEnd type="none" len="sm" w="sm"/>
              <a:tailEnd type="none" len="sm" w="sm"/>
            </a:ln>
          </p:spPr>
        </p:sp>
      </p:grpSp>
      <p:sp>
        <p:nvSpPr>
          <p:cNvPr name="TextBox 9" id="9"/>
          <p:cNvSpPr txBox="true"/>
          <p:nvPr/>
        </p:nvSpPr>
        <p:spPr>
          <a:xfrm rot="0">
            <a:off x="692344" y="6594590"/>
            <a:ext cx="5907762" cy="320733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083"/>
              </a:lnSpc>
            </a:pPr>
            <a:r>
              <a:rPr lang="en-US" b="true" sz="2202" u="sng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Iteration 1</a:t>
            </a:r>
          </a:p>
          <a:p>
            <a:pPr algn="ctr">
              <a:lnSpc>
                <a:spcPts val="3083"/>
              </a:lnSpc>
            </a:pPr>
            <a:r>
              <a:rPr lang="en-US" b="true" sz="2202" u="sng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JAN-MAR</a:t>
            </a:r>
          </a:p>
          <a:p>
            <a:pPr algn="just">
              <a:lnSpc>
                <a:spcPts val="2452"/>
              </a:lnSpc>
            </a:pPr>
          </a:p>
          <a:p>
            <a:pPr algn="just" marL="378220" indent="-189110" lvl="1">
              <a:lnSpc>
                <a:spcPts val="2452"/>
              </a:lnSpc>
              <a:buFont typeface="Arial"/>
              <a:buChar char="•"/>
            </a:pPr>
            <a:r>
              <a:rPr lang="en-US" sz="1751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Set up project infrastructure and basic architecture</a:t>
            </a:r>
          </a:p>
          <a:p>
            <a:pPr algn="just" marL="378220" indent="-189110" lvl="1">
              <a:lnSpc>
                <a:spcPts val="2452"/>
              </a:lnSpc>
              <a:buFont typeface="Arial"/>
              <a:buChar char="•"/>
            </a:pPr>
            <a:r>
              <a:rPr lang="en-US" sz="1751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Create company and candidate portals (Figma)</a:t>
            </a:r>
          </a:p>
          <a:p>
            <a:pPr algn="just" marL="378220" indent="-189110" lvl="1">
              <a:lnSpc>
                <a:spcPts val="2452"/>
              </a:lnSpc>
              <a:buFont typeface="Arial"/>
              <a:buChar char="•"/>
            </a:pPr>
            <a:r>
              <a:rPr lang="en-US" sz="1751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Implement core resume screening AI:</a:t>
            </a:r>
          </a:p>
          <a:p>
            <a:pPr algn="just">
              <a:lnSpc>
                <a:spcPts val="2452"/>
              </a:lnSpc>
            </a:pPr>
            <a:r>
              <a:rPr lang="en-US" sz="1751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            - Resume parsing system</a:t>
            </a:r>
          </a:p>
          <a:p>
            <a:pPr algn="just">
              <a:lnSpc>
                <a:spcPts val="2452"/>
              </a:lnSpc>
            </a:pPr>
            <a:r>
              <a:rPr lang="en-US" sz="1751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            - Basic job description matching</a:t>
            </a:r>
          </a:p>
          <a:p>
            <a:pPr algn="just">
              <a:lnSpc>
                <a:spcPts val="2452"/>
              </a:lnSpc>
            </a:pPr>
            <a:r>
              <a:rPr lang="en-US" sz="1751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            - Initial CV analysis algorithms</a:t>
            </a:r>
          </a:p>
          <a:p>
            <a:pPr algn="just" marL="378220" indent="-189110" lvl="1">
              <a:lnSpc>
                <a:spcPts val="2452"/>
              </a:lnSpc>
              <a:buFont typeface="Arial"/>
              <a:buChar char="•"/>
            </a:pPr>
            <a:r>
              <a:rPr lang="en-US" sz="1751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Unit testing, Poster making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4575050" y="675988"/>
            <a:ext cx="5250973" cy="336757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210"/>
              </a:lnSpc>
            </a:pPr>
            <a:r>
              <a:rPr lang="en-US" b="true" sz="2293" u="sng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Iteration 2</a:t>
            </a:r>
          </a:p>
          <a:p>
            <a:pPr algn="ctr">
              <a:lnSpc>
                <a:spcPts val="3210"/>
              </a:lnSpc>
            </a:pPr>
            <a:r>
              <a:rPr lang="en-US" b="true" sz="2293" u="sng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APR-MAY</a:t>
            </a:r>
          </a:p>
          <a:p>
            <a:pPr algn="just">
              <a:lnSpc>
                <a:spcPts val="2554"/>
              </a:lnSpc>
            </a:pPr>
          </a:p>
          <a:p>
            <a:pPr algn="just" marL="393886" indent="-196943" lvl="1">
              <a:lnSpc>
                <a:spcPts val="2554"/>
              </a:lnSpc>
              <a:buFont typeface="Arial"/>
              <a:buChar char="•"/>
            </a:pPr>
            <a:r>
              <a:rPr lang="en-US" sz="1824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Develop company-side test creation portal:</a:t>
            </a:r>
          </a:p>
          <a:p>
            <a:pPr algn="just">
              <a:lnSpc>
                <a:spcPts val="2554"/>
              </a:lnSpc>
            </a:pPr>
            <a:r>
              <a:rPr lang="en-US" sz="1824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             - Multi-Agentic Model</a:t>
            </a:r>
          </a:p>
          <a:p>
            <a:pPr algn="just">
              <a:lnSpc>
                <a:spcPts val="2554"/>
              </a:lnSpc>
            </a:pPr>
            <a:r>
              <a:rPr lang="en-US" sz="1824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             - Multiple choice question system</a:t>
            </a:r>
          </a:p>
          <a:p>
            <a:pPr algn="just">
              <a:lnSpc>
                <a:spcPts val="2554"/>
              </a:lnSpc>
            </a:pPr>
            <a:r>
              <a:rPr lang="en-US" sz="1824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             - Question bank management</a:t>
            </a:r>
          </a:p>
          <a:p>
            <a:pPr algn="just">
              <a:lnSpc>
                <a:spcPts val="2554"/>
              </a:lnSpc>
            </a:pPr>
            <a:r>
              <a:rPr lang="en-US" sz="1824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             - Test difficulty settings</a:t>
            </a:r>
          </a:p>
          <a:p>
            <a:pPr algn="just" marL="393886" indent="-196943" lvl="1">
              <a:lnSpc>
                <a:spcPts val="2554"/>
              </a:lnSpc>
              <a:buFont typeface="Arial"/>
              <a:buChar char="•"/>
            </a:pPr>
            <a:r>
              <a:rPr lang="en-US" sz="1824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Implement test scoring system</a:t>
            </a:r>
          </a:p>
          <a:p>
            <a:pPr algn="just" marL="393886" indent="-196943" lvl="1">
              <a:lnSpc>
                <a:spcPts val="2554"/>
              </a:lnSpc>
              <a:buFont typeface="Arial"/>
              <a:buChar char="•"/>
            </a:pPr>
            <a:r>
              <a:rPr lang="en-US" sz="1824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Develop basic login/signup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0788122" y="675988"/>
            <a:ext cx="6044160" cy="345479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210"/>
              </a:lnSpc>
            </a:pPr>
            <a:r>
              <a:rPr lang="en-US" b="true" sz="2293" u="sng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Iteration 4</a:t>
            </a:r>
          </a:p>
          <a:p>
            <a:pPr algn="ctr">
              <a:lnSpc>
                <a:spcPts val="3210"/>
              </a:lnSpc>
            </a:pPr>
            <a:r>
              <a:rPr lang="en-US" b="true" sz="2293" u="sng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NOV - DEC</a:t>
            </a:r>
          </a:p>
          <a:p>
            <a:pPr algn="ctr">
              <a:lnSpc>
                <a:spcPts val="3210"/>
              </a:lnSpc>
            </a:pPr>
          </a:p>
          <a:p>
            <a:pPr algn="just" marL="393886" indent="-196943" lvl="1">
              <a:lnSpc>
                <a:spcPts val="2554"/>
              </a:lnSpc>
              <a:buFont typeface="Arial"/>
              <a:buChar char="•"/>
            </a:pPr>
            <a:r>
              <a:rPr lang="en-US" sz="1824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Integrate all components int</a:t>
            </a:r>
            <a:r>
              <a:rPr lang="en-US" sz="1824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o a seamless workflow</a:t>
            </a:r>
          </a:p>
          <a:p>
            <a:pPr algn="just" marL="393886" indent="-196943" lvl="1">
              <a:lnSpc>
                <a:spcPts val="2554"/>
              </a:lnSpc>
              <a:buFont typeface="Arial"/>
              <a:buChar char="•"/>
            </a:pPr>
            <a:r>
              <a:rPr lang="en-US" sz="1824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I</a:t>
            </a:r>
            <a:r>
              <a:rPr lang="en-US" sz="1824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mplement detailed reporting system:</a:t>
            </a:r>
          </a:p>
          <a:p>
            <a:pPr algn="just">
              <a:lnSpc>
                <a:spcPts val="2554"/>
              </a:lnSpc>
            </a:pPr>
            <a:r>
              <a:rPr lang="en-US" sz="1824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            </a:t>
            </a:r>
            <a:r>
              <a:rPr lang="en-US" sz="1824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- Candidate performance analytics</a:t>
            </a:r>
          </a:p>
          <a:p>
            <a:pPr algn="just">
              <a:lnSpc>
                <a:spcPts val="2554"/>
              </a:lnSpc>
            </a:pPr>
            <a:r>
              <a:rPr lang="en-US" sz="1824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            - Interview insights</a:t>
            </a:r>
          </a:p>
          <a:p>
            <a:pPr algn="just">
              <a:lnSpc>
                <a:spcPts val="2554"/>
              </a:lnSpc>
            </a:pPr>
            <a:r>
              <a:rPr lang="en-US" sz="1824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            - Skill assessment reports</a:t>
            </a:r>
          </a:p>
          <a:p>
            <a:pPr algn="just" marL="393886" indent="-196943" lvl="1">
              <a:lnSpc>
                <a:spcPts val="2554"/>
              </a:lnSpc>
              <a:buFont typeface="Arial"/>
              <a:buChar char="•"/>
            </a:pPr>
            <a:r>
              <a:rPr lang="en-US" sz="1824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Fin</a:t>
            </a:r>
            <a:r>
              <a:rPr lang="en-US" sz="1824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al testing an</a:t>
            </a:r>
            <a:r>
              <a:rPr lang="en-US" sz="1824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d optimization</a:t>
            </a:r>
          </a:p>
          <a:p>
            <a:pPr algn="just" marL="393886" indent="-196943" lvl="1">
              <a:lnSpc>
                <a:spcPts val="2554"/>
              </a:lnSpc>
              <a:buFont typeface="Arial"/>
              <a:buChar char="•"/>
            </a:pPr>
            <a:r>
              <a:rPr lang="en-US" sz="1824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Documentation and deployment preparation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7522610" y="6592074"/>
            <a:ext cx="5947871" cy="291894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083"/>
              </a:lnSpc>
            </a:pPr>
            <a:r>
              <a:rPr lang="en-US" b="true" sz="2202" u="sng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Iteraton 3</a:t>
            </a:r>
          </a:p>
          <a:p>
            <a:pPr algn="ctr">
              <a:lnSpc>
                <a:spcPts val="3083"/>
              </a:lnSpc>
            </a:pPr>
            <a:r>
              <a:rPr lang="en-US" b="true" sz="2202" u="sng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SEP-OCT</a:t>
            </a:r>
          </a:p>
          <a:p>
            <a:pPr algn="just">
              <a:lnSpc>
                <a:spcPts val="2452"/>
              </a:lnSpc>
            </a:pPr>
          </a:p>
          <a:p>
            <a:pPr algn="just" marL="378220" indent="-189110" lvl="1">
              <a:lnSpc>
                <a:spcPts val="2452"/>
              </a:lnSpc>
              <a:buFont typeface="Arial"/>
              <a:buChar char="•"/>
            </a:pPr>
            <a:r>
              <a:rPr lang="en-US" sz="1751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Develop AI-powered interview system:</a:t>
            </a:r>
          </a:p>
          <a:p>
            <a:pPr algn="just">
              <a:lnSpc>
                <a:spcPts val="2452"/>
              </a:lnSpc>
            </a:pPr>
            <a:r>
              <a:rPr lang="en-US" sz="1751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            </a:t>
            </a:r>
            <a:r>
              <a:rPr lang="en-US" sz="1751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- Voice-based question handling </a:t>
            </a:r>
          </a:p>
          <a:p>
            <a:pPr algn="just">
              <a:lnSpc>
                <a:spcPts val="2452"/>
              </a:lnSpc>
            </a:pPr>
            <a:r>
              <a:rPr lang="en-US" sz="1751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            - Natural language processing for responses</a:t>
            </a:r>
          </a:p>
          <a:p>
            <a:pPr algn="just">
              <a:lnSpc>
                <a:spcPts val="2452"/>
              </a:lnSpc>
            </a:pPr>
            <a:r>
              <a:rPr lang="en-US" sz="1751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            </a:t>
            </a:r>
            <a:r>
              <a:rPr lang="en-US" sz="1751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- Te</a:t>
            </a:r>
            <a:r>
              <a:rPr lang="en-US" sz="1751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chnical assessment modules</a:t>
            </a:r>
          </a:p>
          <a:p>
            <a:pPr algn="just">
              <a:lnSpc>
                <a:spcPts val="2452"/>
              </a:lnSpc>
            </a:pPr>
            <a:r>
              <a:rPr lang="en-US" sz="1751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            - Communication skills </a:t>
            </a:r>
            <a:r>
              <a:rPr lang="en-US" sz="1751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evaluation</a:t>
            </a:r>
          </a:p>
          <a:p>
            <a:pPr algn="just" marL="378220" indent="-189110" lvl="1">
              <a:lnSpc>
                <a:spcPts val="2452"/>
              </a:lnSpc>
              <a:buFont typeface="Arial"/>
              <a:buChar char="•"/>
            </a:pPr>
            <a:r>
              <a:rPr lang="en-US" sz="1751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Create comprehensive candidate evaluation system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>
  <p:cSld>
    <p:bg>
      <p:bgPr>
        <a:solidFill>
          <a:srgbClr val="051D4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028700" y="3823031"/>
            <a:ext cx="5163706" cy="122908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0073"/>
              </a:lnSpc>
            </a:pPr>
            <a:r>
              <a:rPr lang="en-US" sz="7195" b="true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Modules</a:t>
            </a:r>
          </a:p>
        </p:txBody>
      </p:sp>
      <p:sp>
        <p:nvSpPr>
          <p:cNvPr name="AutoShape 3" id="3"/>
          <p:cNvSpPr/>
          <p:nvPr/>
        </p:nvSpPr>
        <p:spPr>
          <a:xfrm>
            <a:off x="7248998" y="1028700"/>
            <a:ext cx="0" cy="8229600"/>
          </a:xfrm>
          <a:prstGeom prst="line">
            <a:avLst/>
          </a:prstGeom>
          <a:ln cap="flat" w="57150">
            <a:solidFill>
              <a:srgbClr val="FFFFF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4" id="4"/>
          <p:cNvSpPr txBox="true"/>
          <p:nvPr/>
        </p:nvSpPr>
        <p:spPr>
          <a:xfrm rot="0">
            <a:off x="7890277" y="2731265"/>
            <a:ext cx="9659051" cy="356501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1036320" indent="-518160" lvl="1">
              <a:lnSpc>
                <a:spcPts val="5664"/>
              </a:lnSpc>
              <a:buAutoNum type="arabicPeriod" startAt="1"/>
            </a:pPr>
            <a:r>
              <a:rPr lang="en-US" sz="4800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AI Resume Screening</a:t>
            </a:r>
          </a:p>
          <a:p>
            <a:pPr algn="l" marL="1036320" indent="-518160" lvl="1">
              <a:lnSpc>
                <a:spcPts val="5664"/>
              </a:lnSpc>
              <a:buAutoNum type="arabicPeriod" startAt="1"/>
            </a:pPr>
            <a:r>
              <a:rPr lang="en-US" sz="4800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AI Test Creation</a:t>
            </a:r>
          </a:p>
          <a:p>
            <a:pPr algn="l" marL="1036320" indent="-518160" lvl="1">
              <a:lnSpc>
                <a:spcPts val="5664"/>
              </a:lnSpc>
              <a:buAutoNum type="arabicPeriod" startAt="1"/>
            </a:pPr>
            <a:r>
              <a:rPr lang="en-US" sz="4800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AI Interview</a:t>
            </a:r>
          </a:p>
          <a:p>
            <a:pPr algn="l" marL="1036320" indent="-518160" lvl="1">
              <a:lnSpc>
                <a:spcPts val="5664"/>
              </a:lnSpc>
              <a:buAutoNum type="arabicPeriod" startAt="1"/>
            </a:pPr>
            <a:r>
              <a:rPr lang="en-US" sz="4800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AI Scoring and Analytics</a:t>
            </a:r>
          </a:p>
          <a:p>
            <a:pPr algn="l" marL="1036320" indent="-518160" lvl="1">
              <a:lnSpc>
                <a:spcPts val="5664"/>
              </a:lnSpc>
              <a:buAutoNum type="arabicPeriod" startAt="1"/>
            </a:pPr>
            <a:r>
              <a:rPr lang="en-US" sz="4800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Integration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>
  <p:cSld>
    <p:bg>
      <p:bgPr>
        <a:solidFill>
          <a:srgbClr val="051D4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4809145" y="3388751"/>
            <a:ext cx="8669711" cy="403337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113"/>
              </a:lnSpc>
            </a:pPr>
            <a:r>
              <a:rPr lang="en-US" sz="5080" b="true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 AI Interview</a:t>
            </a:r>
          </a:p>
          <a:p>
            <a:pPr algn="ctr" marL="773098" indent="-386549" lvl="1">
              <a:lnSpc>
                <a:spcPts val="5013"/>
              </a:lnSpc>
              <a:buFont typeface="Arial"/>
              <a:buChar char="•"/>
            </a:pPr>
            <a:r>
              <a:rPr lang="en-US" b="true" sz="3580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AI Interview Taker</a:t>
            </a:r>
          </a:p>
          <a:p>
            <a:pPr algn="ctr" marL="773098" indent="-386549" lvl="1">
              <a:lnSpc>
                <a:spcPts val="5013"/>
              </a:lnSpc>
              <a:buFont typeface="Arial"/>
              <a:buChar char="•"/>
            </a:pPr>
            <a:r>
              <a:rPr lang="en-US" b="true" sz="3580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AI Interview Scorer</a:t>
            </a:r>
          </a:p>
          <a:p>
            <a:pPr algn="ctr" marL="773098" indent="-386549" lvl="1">
              <a:lnSpc>
                <a:spcPts val="5013"/>
              </a:lnSpc>
              <a:buFont typeface="Arial"/>
              <a:buChar char="•"/>
            </a:pPr>
            <a:r>
              <a:rPr lang="en-US" b="true" sz="3580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Partial Frontend and AI tool integration</a:t>
            </a:r>
          </a:p>
          <a:p>
            <a:pPr algn="ctr">
              <a:lnSpc>
                <a:spcPts val="5013"/>
              </a:lnSpc>
              <a:spcBef>
                <a:spcPct val="0"/>
              </a:spcBef>
            </a:pPr>
          </a:p>
        </p:txBody>
      </p:sp>
      <p:sp>
        <p:nvSpPr>
          <p:cNvPr name="TextBox 3" id="3"/>
          <p:cNvSpPr txBox="true"/>
          <p:nvPr/>
        </p:nvSpPr>
        <p:spPr>
          <a:xfrm rot="0">
            <a:off x="5044141" y="847725"/>
            <a:ext cx="8199718" cy="16011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3056"/>
              </a:lnSpc>
            </a:pPr>
            <a:r>
              <a:rPr lang="en-US" sz="9326" b="true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This Module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51D4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348565"/>
            <a:ext cx="18288000" cy="9589871"/>
          </a:xfrm>
          <a:custGeom>
            <a:avLst/>
            <a:gdLst/>
            <a:ahLst/>
            <a:cxnLst/>
            <a:rect r="r" b="b" t="t" l="l"/>
            <a:pathLst>
              <a:path h="9589871" w="18288000">
                <a:moveTo>
                  <a:pt x="0" y="0"/>
                </a:moveTo>
                <a:lnTo>
                  <a:pt x="18288000" y="0"/>
                </a:lnTo>
                <a:lnTo>
                  <a:pt x="18288000" y="9589870"/>
                </a:lnTo>
                <a:lnTo>
                  <a:pt x="0" y="958987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51D4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588496"/>
            <a:ext cx="18288000" cy="9110007"/>
          </a:xfrm>
          <a:custGeom>
            <a:avLst/>
            <a:gdLst/>
            <a:ahLst/>
            <a:cxnLst/>
            <a:rect r="r" b="b" t="t" l="l"/>
            <a:pathLst>
              <a:path h="9110007" w="18288000">
                <a:moveTo>
                  <a:pt x="0" y="0"/>
                </a:moveTo>
                <a:lnTo>
                  <a:pt x="18288000" y="0"/>
                </a:lnTo>
                <a:lnTo>
                  <a:pt x="18288000" y="9110008"/>
                </a:lnTo>
                <a:lnTo>
                  <a:pt x="0" y="911000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>
  <p:cSld>
    <p:bg>
      <p:bgPr>
        <a:solidFill>
          <a:srgbClr val="051D4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290667" y="239395"/>
            <a:ext cx="17706666" cy="97510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340"/>
              </a:lnSpc>
            </a:pPr>
            <a:r>
              <a:rPr lang="en-US" sz="3100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InterviewerBot: Hi </a:t>
            </a:r>
            <a:r>
              <a:rPr lang="en-US" sz="3100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Asad—thank you for joining today. Let’s dive in.</a:t>
            </a:r>
          </a:p>
          <a:p>
            <a:pPr algn="l">
              <a:lnSpc>
                <a:spcPts val="4340"/>
              </a:lnSpc>
            </a:pPr>
          </a:p>
          <a:p>
            <a:pPr algn="l">
              <a:lnSpc>
                <a:spcPts val="4340"/>
              </a:lnSpc>
            </a:pPr>
            <a:r>
              <a:rPr lang="en-US" sz="3100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Your resume lists the BLOGS MARKET project, which uses React on the front-end. Could you walk me through one specific React component you built for that project and explain what problem it solved?</a:t>
            </a:r>
          </a:p>
          <a:p>
            <a:pPr algn="l">
              <a:lnSpc>
                <a:spcPts val="4340"/>
              </a:lnSpc>
            </a:pPr>
            <a:r>
              <a:rPr lang="en-US" sz="3100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You (Candidate): I built a popup that would displayu the Blog details, it had amazingness in it</a:t>
            </a:r>
          </a:p>
          <a:p>
            <a:pPr algn="l">
              <a:lnSpc>
                <a:spcPts val="4340"/>
              </a:lnSpc>
            </a:pPr>
            <a:r>
              <a:rPr lang="en-US" sz="3100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InterviewerBot: Thinking...</a:t>
            </a:r>
          </a:p>
          <a:p>
            <a:pPr algn="l">
              <a:lnSpc>
                <a:spcPts val="4340"/>
              </a:lnSpc>
            </a:pPr>
            <a:r>
              <a:rPr lang="en-US" sz="3100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InterviewerBot: Thank you for sharing that. To help me understand your implementation a bit better, could you describe how you passed the blog data into that popup component and how you managed to open/close it from the parent list of blogs?</a:t>
            </a:r>
          </a:p>
          <a:p>
            <a:pPr algn="l">
              <a:lnSpc>
                <a:spcPts val="4340"/>
              </a:lnSpc>
            </a:pPr>
            <a:r>
              <a:rPr lang="en-US" sz="3100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You (Candidate): i from the backend got the data (another team member had already done that part for the grid view. I just displayed the data i wanted from that</a:t>
            </a:r>
          </a:p>
          <a:p>
            <a:pPr algn="l">
              <a:lnSpc>
                <a:spcPts val="4340"/>
              </a:lnSpc>
            </a:pPr>
            <a:r>
              <a:rPr lang="en-US" sz="3100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InterviewerBot: Thinking...</a:t>
            </a:r>
          </a:p>
          <a:p>
            <a:pPr algn="l">
              <a:lnSpc>
                <a:spcPts val="4340"/>
              </a:lnSpc>
            </a:pPr>
            <a:r>
              <a:rPr lang="en-US" sz="3100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InterviewerBot: Got it—so you reused the data that was already fetched for the grid.</a:t>
            </a:r>
          </a:p>
          <a:p>
            <a:pPr algn="l">
              <a:lnSpc>
                <a:spcPts val="4340"/>
              </a:lnSpc>
            </a:pPr>
            <a:r>
              <a:rPr lang="en-US" sz="3100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Within that popup component, can you show me a short snippet (or describe the key lines) of how you actually rendered the blog title and body? For example, did you use props, state, or any specific React hooks?</a:t>
            </a:r>
          </a:p>
          <a:p>
            <a:pPr algn="l">
              <a:lnSpc>
                <a:spcPts val="4340"/>
              </a:lnSpc>
            </a:pPr>
            <a:r>
              <a:rPr lang="en-US" sz="3100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You (Candidate):</a:t>
            </a:r>
          </a:p>
        </p:txBody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>
  <p:cSld>
    <p:bg>
      <p:bgPr>
        <a:solidFill>
          <a:srgbClr val="051D4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3595393" y="904875"/>
            <a:ext cx="11097214" cy="108716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856"/>
              </a:lnSpc>
            </a:pPr>
            <a:r>
              <a:rPr lang="en-US" sz="6326" b="true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Done up to present time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3015151" y="2956972"/>
            <a:ext cx="13423323" cy="573856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887927" indent="-443963" lvl="1">
              <a:lnSpc>
                <a:spcPts val="5757"/>
              </a:lnSpc>
              <a:buFont typeface="Arial"/>
              <a:buChar char="•"/>
            </a:pPr>
            <a:r>
              <a:rPr lang="en-US" sz="4112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AI Resume Screening</a:t>
            </a:r>
          </a:p>
          <a:p>
            <a:pPr algn="l" marL="887927" indent="-443963" lvl="1">
              <a:lnSpc>
                <a:spcPts val="5757"/>
              </a:lnSpc>
              <a:buFont typeface="Arial"/>
              <a:buChar char="•"/>
            </a:pPr>
            <a:r>
              <a:rPr lang="en-US" sz="4112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AI Test Creation</a:t>
            </a:r>
          </a:p>
          <a:p>
            <a:pPr algn="l" marL="887927" indent="-443963" lvl="1">
              <a:lnSpc>
                <a:spcPts val="5757"/>
              </a:lnSpc>
              <a:buFont typeface="Arial"/>
              <a:buChar char="•"/>
            </a:pPr>
            <a:r>
              <a:rPr lang="en-US" sz="4112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AI Interview</a:t>
            </a:r>
          </a:p>
          <a:p>
            <a:pPr algn="l" marL="887927" indent="-443963" lvl="1">
              <a:lnSpc>
                <a:spcPts val="5757"/>
              </a:lnSpc>
              <a:buFont typeface="Arial"/>
              <a:buChar char="•"/>
            </a:pPr>
            <a:r>
              <a:rPr lang="en-US" sz="4112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Separate Scoring and Evaluations for all 3 Modules</a:t>
            </a:r>
          </a:p>
          <a:p>
            <a:pPr algn="l" marL="887927" indent="-443963" lvl="1">
              <a:lnSpc>
                <a:spcPts val="5757"/>
              </a:lnSpc>
              <a:buFont typeface="Arial"/>
              <a:buChar char="•"/>
            </a:pPr>
            <a:r>
              <a:rPr lang="en-US" sz="4112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Complete  Working Frontend </a:t>
            </a:r>
          </a:p>
          <a:p>
            <a:pPr algn="l" marL="887927" indent="-443963" lvl="1">
              <a:lnSpc>
                <a:spcPts val="5757"/>
              </a:lnSpc>
              <a:buFont typeface="Arial"/>
              <a:buChar char="•"/>
            </a:pPr>
            <a:r>
              <a:rPr lang="en-US" sz="4112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Role Based Working Login/Signup</a:t>
            </a:r>
          </a:p>
          <a:p>
            <a:pPr algn="l" marL="887927" indent="-443963" lvl="1">
              <a:lnSpc>
                <a:spcPts val="5757"/>
              </a:lnSpc>
              <a:buFont typeface="Arial"/>
              <a:buChar char="•"/>
            </a:pPr>
            <a:r>
              <a:rPr lang="en-US" sz="4112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Backend and Frontend connected</a:t>
            </a:r>
          </a:p>
        </p:txBody>
      </p:sp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>
  <p:cSld>
    <p:bg>
      <p:bgPr>
        <a:solidFill>
          <a:srgbClr val="051D4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6009579" y="2553186"/>
            <a:ext cx="6268842" cy="123947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0169"/>
              </a:lnSpc>
            </a:pPr>
            <a:r>
              <a:rPr lang="en-US" sz="7263" b="true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Next Iteration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2957096" y="4219892"/>
            <a:ext cx="12373809" cy="23806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734059" indent="-367030" lvl="1">
              <a:lnSpc>
                <a:spcPts val="4759"/>
              </a:lnSpc>
              <a:buFont typeface="Arial"/>
              <a:buChar char="•"/>
            </a:pPr>
            <a:r>
              <a:rPr lang="en-US" sz="3399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Integrate all components</a:t>
            </a:r>
          </a:p>
          <a:p>
            <a:pPr algn="l" marL="734059" indent="-367030" lvl="1">
              <a:lnSpc>
                <a:spcPts val="4759"/>
              </a:lnSpc>
              <a:buFont typeface="Arial"/>
              <a:buChar char="•"/>
            </a:pPr>
            <a:r>
              <a:rPr lang="en-US" sz="3399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Final Scoring  </a:t>
            </a:r>
          </a:p>
          <a:p>
            <a:pPr algn="l" marL="734059" indent="-367030" lvl="1">
              <a:lnSpc>
                <a:spcPts val="4759"/>
              </a:lnSpc>
              <a:buFont typeface="Arial"/>
              <a:buChar char="•"/>
            </a:pPr>
            <a:r>
              <a:rPr lang="en-US" sz="3399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Analytics Dashboard for Company and Candidate portal</a:t>
            </a:r>
          </a:p>
          <a:p>
            <a:pPr algn="l" marL="734059" indent="-367030" lvl="1">
              <a:lnSpc>
                <a:spcPts val="4759"/>
              </a:lnSpc>
              <a:buFont typeface="Arial"/>
              <a:buChar char="•"/>
            </a:pPr>
            <a:r>
              <a:rPr lang="en-US" sz="3399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Final Testing and refinement</a:t>
            </a:r>
          </a:p>
        </p:txBody>
      </p:sp>
    </p:spTree>
  </p:cSld>
  <p:clrMapOvr>
    <a:masterClrMapping/>
  </p:clrMapOvr>
</p:sld>
</file>

<file path=ppt/slides/slide14.xml><?xml version="1.0" encoding="utf-8"?>
<p:sld xmlns:p="http://schemas.openxmlformats.org/presentationml/2006/main" xmlns:a="http://schemas.openxmlformats.org/drawingml/2006/main">
  <p:cSld>
    <p:bg>
      <p:bgPr>
        <a:solidFill>
          <a:srgbClr val="051D4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5528846" y="3591786"/>
            <a:ext cx="7230309" cy="26289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0500"/>
              </a:lnSpc>
            </a:pPr>
            <a:r>
              <a:rPr lang="en-US" sz="7500" b="true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Thank you!</a:t>
            </a:r>
          </a:p>
          <a:p>
            <a:pPr algn="ctr">
              <a:lnSpc>
                <a:spcPts val="10500"/>
              </a:lnSpc>
            </a:pPr>
            <a:r>
              <a:rPr lang="en-US" sz="7500" b="true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Any Questions?</a:t>
            </a:r>
          </a:p>
        </p:txBody>
      </p:sp>
    </p:spTree>
  </p:cSld>
  <p:clrMapOvr>
    <a:masterClrMapping/>
  </p:clrMapOvr>
</p:sld>
</file>

<file path=ppt/slides/slide15.xml><?xml version="1.0" encoding="utf-8"?>
<p:sld xmlns:p="http://schemas.openxmlformats.org/presentationml/2006/main" xmlns:a="http://schemas.openxmlformats.org/drawingml/2006/main">
  <p:cSld>
    <p:bg>
      <p:bgPr>
        <a:solidFill>
          <a:srgbClr val="051D4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5487454" y="3253817"/>
            <a:ext cx="7313091" cy="339836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740"/>
              </a:lnSpc>
            </a:pPr>
            <a:r>
              <a:rPr lang="en-US" sz="19814" b="true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Demo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DAG19zGG6CM</dc:identifier>
  <dcterms:modified xsi:type="dcterms:W3CDTF">2011-08-01T06:04:30Z</dcterms:modified>
  <cp:revision>1</cp:revision>
  <dc:title>Mid Eval FYP2</dc:title>
</cp:coreProperties>
</file>