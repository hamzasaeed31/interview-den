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Now Bold" charset="1" panose="00000800000000000000"/>
      <p:regular r:id="rId20"/>
    </p:embeddedFon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1392544" y="4154952"/>
            <a:ext cx="11958151" cy="1929323"/>
            <a:chOff x="0" y="0"/>
            <a:chExt cx="3149472" cy="508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9472" cy="508135"/>
            </a:xfrm>
            <a:custGeom>
              <a:avLst/>
              <a:gdLst/>
              <a:ahLst/>
              <a:cxnLst/>
              <a:rect r="r" b="b" t="t" l="l"/>
              <a:pathLst>
                <a:path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08957" y="-101114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95175" y="863050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06958" y="312728"/>
            <a:ext cx="1881042" cy="1881042"/>
          </a:xfrm>
          <a:custGeom>
            <a:avLst/>
            <a:gdLst/>
            <a:ahLst/>
            <a:cxnLst/>
            <a:rect r="r" b="b" t="t" l="l"/>
            <a:pathLst>
              <a:path h="1881042" w="1881042">
                <a:moveTo>
                  <a:pt x="0" y="0"/>
                </a:moveTo>
                <a:lnTo>
                  <a:pt x="1881042" y="0"/>
                </a:lnTo>
                <a:lnTo>
                  <a:pt x="1881042" y="1881042"/>
                </a:lnTo>
                <a:lnTo>
                  <a:pt x="0" y="1881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06958" y="2368073"/>
            <a:ext cx="1881042" cy="1881042"/>
          </a:xfrm>
          <a:custGeom>
            <a:avLst/>
            <a:gdLst/>
            <a:ahLst/>
            <a:cxnLst/>
            <a:rect r="r" b="b" t="t" l="l"/>
            <a:pathLst>
              <a:path h="1881042" w="1881042">
                <a:moveTo>
                  <a:pt x="0" y="0"/>
                </a:moveTo>
                <a:lnTo>
                  <a:pt x="1881042" y="0"/>
                </a:lnTo>
                <a:lnTo>
                  <a:pt x="1881042" y="1881042"/>
                </a:lnTo>
                <a:lnTo>
                  <a:pt x="0" y="18810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38225"/>
            <a:ext cx="14029209" cy="4277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5" b="true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AI</a:t>
            </a:r>
            <a:r>
              <a:rPr lang="en-US" sz="9395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-DRIVEN JOB </a:t>
            </a:r>
            <a:r>
              <a:rPr lang="en-US" sz="9395" b="true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INTERVIEW</a:t>
            </a:r>
            <a:r>
              <a:rPr lang="en-US" sz="9395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 ANALYZER</a:t>
            </a:r>
          </a:p>
          <a:p>
            <a:pPr algn="l">
              <a:lnSpc>
                <a:spcPts val="1127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800488"/>
            <a:ext cx="10896957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Short Title: Interview Den (S25-47-D)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877685"/>
            <a:ext cx="6761917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Team:       Hamza Saeed  21i-0671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Waleed Saeed  21i-1672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Asad Ullah Shah 21i-0545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427503" y="6877685"/>
            <a:ext cx="621065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Supervisor: Dr. Mehreen Alam</a:t>
            </a:r>
          </a:p>
          <a:p>
            <a:pPr algn="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0" y="4215760"/>
            <a:ext cx="9139238" cy="167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7"/>
              </a:lnSpc>
            </a:pPr>
            <a:r>
              <a:rPr lang="en-US" sz="98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Recap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0" y="1028700"/>
            <a:ext cx="0" cy="822960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884894" y="1219835"/>
            <a:ext cx="7374406" cy="777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Focus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AI-Driven Job Interview Analyzer aims to automate and optimize the hiring process by leveraging AI. 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Goal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Resume Screening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Test Creation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Interview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based Scoring and Insights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3462" y="3552791"/>
            <a:ext cx="16230600" cy="2667702"/>
          </a:xfrm>
          <a:custGeom>
            <a:avLst/>
            <a:gdLst/>
            <a:ahLst/>
            <a:cxnLst/>
            <a:rect r="r" b="b" t="t" l="l"/>
            <a:pathLst>
              <a:path h="2667702" w="16230600">
                <a:moveTo>
                  <a:pt x="0" y="0"/>
                </a:moveTo>
                <a:lnTo>
                  <a:pt x="16230601" y="0"/>
                </a:lnTo>
                <a:lnTo>
                  <a:pt x="16230601" y="2667703"/>
                </a:lnTo>
                <a:lnTo>
                  <a:pt x="0" y="2667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0" y="847725"/>
            <a:ext cx="7710514" cy="167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7"/>
              </a:lnSpc>
            </a:pPr>
            <a:r>
              <a:rPr lang="en-US" sz="98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Feedback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9122" y="1028700"/>
            <a:ext cx="15929757" cy="8388013"/>
          </a:xfrm>
          <a:custGeom>
            <a:avLst/>
            <a:gdLst/>
            <a:ahLst/>
            <a:cxnLst/>
            <a:rect r="r" b="b" t="t" l="l"/>
            <a:pathLst>
              <a:path h="8388013" w="15929757">
                <a:moveTo>
                  <a:pt x="0" y="0"/>
                </a:moveTo>
                <a:lnTo>
                  <a:pt x="15929756" y="0"/>
                </a:lnTo>
                <a:lnTo>
                  <a:pt x="15929756" y="8388013"/>
                </a:lnTo>
                <a:lnTo>
                  <a:pt x="0" y="8388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9543" y="1028700"/>
            <a:ext cx="15628914" cy="8229600"/>
          </a:xfrm>
          <a:custGeom>
            <a:avLst/>
            <a:gdLst/>
            <a:ahLst/>
            <a:cxnLst/>
            <a:rect r="r" b="b" t="t" l="l"/>
            <a:pathLst>
              <a:path h="8229600" w="15628914">
                <a:moveTo>
                  <a:pt x="0" y="0"/>
                </a:moveTo>
                <a:lnTo>
                  <a:pt x="15628914" y="0"/>
                </a:lnTo>
                <a:lnTo>
                  <a:pt x="1562891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3117973" cy="99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5"/>
              </a:lnSpc>
            </a:pPr>
            <a:r>
              <a:rPr lang="en-US" sz="582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Timeline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55718" y="4293733"/>
            <a:ext cx="15376564" cy="2088791"/>
            <a:chOff x="0" y="0"/>
            <a:chExt cx="20502086" cy="2785055"/>
          </a:xfrm>
        </p:grpSpPr>
        <p:sp>
          <p:nvSpPr>
            <p:cNvPr name="AutoShape 4" id="4"/>
            <p:cNvSpPr/>
            <p:nvPr/>
          </p:nvSpPr>
          <p:spPr>
            <a:xfrm>
              <a:off x="0" y="1392609"/>
              <a:ext cx="20502086" cy="0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V="true">
              <a:off x="2837289" y="1392446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7358006" y="0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11870250" y="1392446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V="true">
              <a:off x="16382494" y="0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692344" y="6594590"/>
            <a:ext cx="5907762" cy="3207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1</a:t>
            </a:r>
          </a:p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JAN-MAR</a:t>
            </a:r>
          </a:p>
          <a:p>
            <a:pPr algn="just">
              <a:lnSpc>
                <a:spcPts val="2452"/>
              </a:lnSpc>
            </a:pP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Set up project infrastructure and basic architecture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company and candidate portals (Figma)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 core resume screening AI: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Resume parsing system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Basic job description matching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Initial CV analysis algorithms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Unit testing, Poster making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75050" y="675988"/>
            <a:ext cx="5250973" cy="3367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2</a:t>
            </a:r>
          </a:p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APR-MAY</a:t>
            </a:r>
          </a:p>
          <a:p>
            <a:pPr algn="just">
              <a:lnSpc>
                <a:spcPts val="2554"/>
              </a:lnSpc>
            </a:pP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 company-side test creation portal: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Multi-Agentic Model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Multiple choice question system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Question bank management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Test difficulty settings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 test scoring system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 basic login/signup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88122" y="675988"/>
            <a:ext cx="6044160" cy="345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4</a:t>
            </a:r>
          </a:p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NOV - DEC</a:t>
            </a:r>
          </a:p>
          <a:p>
            <a:pPr algn="ctr">
              <a:lnSpc>
                <a:spcPts val="3210"/>
              </a:lnSpc>
            </a:pP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Integrate all components int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a seamless workflow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mplement detailed reporting system: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Candidate analytics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Interview insights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Skill assessment reports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 testing an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optimization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Documentation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22610" y="6592074"/>
            <a:ext cx="5947871" cy="261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Iteraton 3</a:t>
            </a:r>
          </a:p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SEP-OCT</a:t>
            </a:r>
          </a:p>
          <a:p>
            <a:pPr algn="just">
              <a:lnSpc>
                <a:spcPts val="2452"/>
              </a:lnSpc>
            </a:pP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 AI-powered interview system: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Voice-based question handling 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Natural language processing for responses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Te</a:t>
            </a: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chnical assessment modules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comprehensive candidate evaluation system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23031"/>
            <a:ext cx="5163706" cy="122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3"/>
              </a:lnSpc>
            </a:pPr>
            <a:r>
              <a:rPr lang="en-US" sz="719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Modules</a:t>
            </a:r>
          </a:p>
        </p:txBody>
      </p:sp>
      <p:sp>
        <p:nvSpPr>
          <p:cNvPr name="AutoShape 3" id="3"/>
          <p:cNvSpPr/>
          <p:nvPr/>
        </p:nvSpPr>
        <p:spPr>
          <a:xfrm>
            <a:off x="7248998" y="1028700"/>
            <a:ext cx="0" cy="822960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865900" y="3088453"/>
            <a:ext cx="9659051" cy="2850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Resume Screening</a:t>
            </a:r>
          </a:p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Test Creation</a:t>
            </a:r>
          </a:p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Interview</a:t>
            </a:r>
          </a:p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Scoring and Analytics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998718"/>
            <a:ext cx="8115300" cy="4662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13"/>
              </a:lnSpc>
            </a:pPr>
            <a:r>
              <a:rPr lang="en-US" sz="508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AI Scoring and Analytics</a:t>
            </a: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b="true" sz="358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 Scoring</a:t>
            </a: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b="true" sz="358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Complete Dashboard</a:t>
            </a: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b="true" sz="358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 Time Feedback</a:t>
            </a: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b="true" sz="358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Live Notifications</a:t>
            </a: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b="true" sz="358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Testing</a:t>
            </a:r>
          </a:p>
          <a:p>
            <a:pPr algn="ctr">
              <a:lnSpc>
                <a:spcPts val="5013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044141" y="847725"/>
            <a:ext cx="8199718" cy="160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56"/>
              </a:lnSpc>
            </a:pPr>
            <a:r>
              <a:rPr lang="en-US" sz="932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Module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86209" y="3304966"/>
            <a:ext cx="8115300" cy="500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3"/>
              </a:lnSpc>
            </a:pP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b="true" sz="358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Text to Speech</a:t>
            </a: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b="true" sz="358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Speech to text</a:t>
            </a: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b="true" sz="358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Static Avatar </a:t>
            </a:r>
          </a:p>
          <a:p>
            <a:pPr algn="ctr" marL="773098" indent="-386549" lvl="1">
              <a:lnSpc>
                <a:spcPts val="5013"/>
              </a:lnSpc>
              <a:buFont typeface="Arial"/>
              <a:buChar char="•"/>
            </a:pPr>
            <a:r>
              <a:rPr lang="en-US" b="true" sz="358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Finetuned Model on HuggingFace for Resume Screening (Module 1)</a:t>
            </a:r>
          </a:p>
          <a:p>
            <a:pPr algn="ctr">
              <a:lnSpc>
                <a:spcPts val="501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5827" y="1047750"/>
            <a:ext cx="17576346" cy="142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4"/>
              </a:lnSpc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FineTuned Qwen2.5-3B and</a:t>
            </a:r>
          </a:p>
          <a:p>
            <a:pPr algn="ctr">
              <a:lnSpc>
                <a:spcPts val="5664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Llama-3.2-1B for Resume Screening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3140779"/>
            <a:ext cx="16230600" cy="4557387"/>
          </a:xfrm>
          <a:custGeom>
            <a:avLst/>
            <a:gdLst/>
            <a:ahLst/>
            <a:cxnLst/>
            <a:rect r="r" b="b" t="t" l="l"/>
            <a:pathLst>
              <a:path h="4557387" w="16230600">
                <a:moveTo>
                  <a:pt x="0" y="0"/>
                </a:moveTo>
                <a:lnTo>
                  <a:pt x="16230600" y="0"/>
                </a:lnTo>
                <a:lnTo>
                  <a:pt x="16230600" y="4557387"/>
                </a:lnTo>
                <a:lnTo>
                  <a:pt x="0" y="455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329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47954" y="1028700"/>
            <a:ext cx="14192093" cy="8229600"/>
          </a:xfrm>
          <a:custGeom>
            <a:avLst/>
            <a:gdLst/>
            <a:ahLst/>
            <a:cxnLst/>
            <a:rect r="r" b="b" t="t" l="l"/>
            <a:pathLst>
              <a:path h="8229600" w="14192093">
                <a:moveTo>
                  <a:pt x="0" y="0"/>
                </a:moveTo>
                <a:lnTo>
                  <a:pt x="14192092" y="0"/>
                </a:lnTo>
                <a:lnTo>
                  <a:pt x="1419209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4086" y="1028700"/>
            <a:ext cx="14679827" cy="8229600"/>
          </a:xfrm>
          <a:custGeom>
            <a:avLst/>
            <a:gdLst/>
            <a:ahLst/>
            <a:cxnLst/>
            <a:rect r="r" b="b" t="t" l="l"/>
            <a:pathLst>
              <a:path h="8229600" w="14679827">
                <a:moveTo>
                  <a:pt x="0" y="0"/>
                </a:moveTo>
                <a:lnTo>
                  <a:pt x="14679828" y="0"/>
                </a:lnTo>
                <a:lnTo>
                  <a:pt x="1467982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95393" y="904875"/>
            <a:ext cx="11097214" cy="1087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56"/>
              </a:lnSpc>
            </a:pPr>
            <a:r>
              <a:rPr lang="en-US" sz="6326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Done up to present time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60776"/>
            <a:ext cx="16230600" cy="607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3623" indent="-536811" lvl="1">
              <a:lnSpc>
                <a:spcPts val="6961"/>
              </a:lnSpc>
              <a:buFont typeface="Arial"/>
              <a:buChar char="•"/>
            </a:pPr>
            <a:r>
              <a:rPr lang="en-US" sz="49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Resume Screening</a:t>
            </a:r>
          </a:p>
          <a:p>
            <a:pPr algn="l" marL="1073623" indent="-536811" lvl="1">
              <a:lnSpc>
                <a:spcPts val="6961"/>
              </a:lnSpc>
              <a:buFont typeface="Arial"/>
              <a:buChar char="•"/>
            </a:pPr>
            <a:r>
              <a:rPr lang="en-US" sz="49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Test Creation</a:t>
            </a:r>
          </a:p>
          <a:p>
            <a:pPr algn="l" marL="1073623" indent="-536811" lvl="1">
              <a:lnSpc>
                <a:spcPts val="6961"/>
              </a:lnSpc>
              <a:buFont typeface="Arial"/>
              <a:buChar char="•"/>
            </a:pPr>
            <a:r>
              <a:rPr lang="en-US" sz="49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Interview</a:t>
            </a:r>
          </a:p>
          <a:p>
            <a:pPr algn="l" marL="1073623" indent="-536811" lvl="1">
              <a:lnSpc>
                <a:spcPts val="6961"/>
              </a:lnSpc>
              <a:buFont typeface="Arial"/>
              <a:buChar char="•"/>
            </a:pPr>
            <a:r>
              <a:rPr lang="en-US" sz="49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Scoring</a:t>
            </a:r>
          </a:p>
          <a:p>
            <a:pPr algn="l" marL="1073623" indent="-536811" lvl="1">
              <a:lnSpc>
                <a:spcPts val="6961"/>
              </a:lnSpc>
              <a:buFont typeface="Arial"/>
              <a:buChar char="•"/>
            </a:pPr>
            <a:r>
              <a:rPr lang="en-US" sz="49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Analytics Dashboard</a:t>
            </a:r>
          </a:p>
          <a:p>
            <a:pPr algn="l" marL="1073623" indent="-536811" lvl="1">
              <a:lnSpc>
                <a:spcPts val="6961"/>
              </a:lnSpc>
              <a:buFont typeface="Arial"/>
              <a:buChar char="•"/>
            </a:pPr>
            <a:r>
              <a:rPr lang="en-US" sz="497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Testing and Deployment</a:t>
            </a:r>
          </a:p>
          <a:p>
            <a:pPr algn="l">
              <a:lnSpc>
                <a:spcPts val="6961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28846" y="3591786"/>
            <a:ext cx="7230309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Questions?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87454" y="3253817"/>
            <a:ext cx="7313091" cy="3398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0"/>
              </a:lnSpc>
            </a:pPr>
            <a:r>
              <a:rPr lang="en-US" sz="19814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DAG7CyVDFs8</dc:identifier>
  <dcterms:modified xsi:type="dcterms:W3CDTF">2011-08-01T06:04:30Z</dcterms:modified>
  <cp:revision>1</cp:revision>
  <dc:title>Final Eval FYP2</dc:title>
</cp:coreProperties>
</file>